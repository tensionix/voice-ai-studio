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97e544bc24848" /><Relationship Type="http://schemas.openxmlformats.org/officeDocument/2006/relationships/extended-properties" Target="/docProps/app.xml" Id="R9142830d9a2f410c" /><Relationship Type="http://schemas.openxmlformats.org/officeDocument/2006/relationships/officeDocument" Target="/ppt/presentation.xml" Id="R794f8549f39c40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00035b893345c4"/>
  </p:sldMasterIdLst>
  <p:notesMasterIdLst>
    <p:notesMasterId xmlns:r="http://schemas.openxmlformats.org/officeDocument/2006/relationships" r:id="R91bb83c508f54ced"/>
  </p:notesMasterIdLst>
  <p:sldIdLst>
    <p:sldId xmlns:r="http://schemas.openxmlformats.org/officeDocument/2006/relationships" id="256" r:id="Rca6f18a98a7f498d"/>
    <p:sldId xmlns:r="http://schemas.openxmlformats.org/officeDocument/2006/relationships" id="257" r:id="Rb71e506bceda4ce3"/>
    <p:sldId xmlns:r="http://schemas.openxmlformats.org/officeDocument/2006/relationships" id="258" r:id="R9db3cd2860da4e15"/>
    <p:sldId xmlns:r="http://schemas.openxmlformats.org/officeDocument/2006/relationships" id="259" r:id="R9ae6cd45b061446f"/>
    <p:sldId xmlns:r="http://schemas.openxmlformats.org/officeDocument/2006/relationships" id="260" r:id="Rab2a5cf249724d27"/>
    <p:sldId xmlns:r="http://schemas.openxmlformats.org/officeDocument/2006/relationships" id="261" r:id="Rae29f533bc364ef5"/>
    <p:sldId xmlns:r="http://schemas.openxmlformats.org/officeDocument/2006/relationships" id="262" r:id="R03c9e63d332b4d0e"/>
    <p:sldId xmlns:r="http://schemas.openxmlformats.org/officeDocument/2006/relationships" id="263" r:id="R3311b15e84de4010"/>
    <p:sldId xmlns:r="http://schemas.openxmlformats.org/officeDocument/2006/relationships" id="264" r:id="Ra29a62aa11fb48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df68951d44744" /><Relationship Type="http://schemas.openxmlformats.org/officeDocument/2006/relationships/slideMaster" Target="/ppt/slideMasters/slideMaster1.xml" Id="R4a00035b893345c4" /><Relationship Type="http://schemas.openxmlformats.org/officeDocument/2006/relationships/notesMaster" Target="/ppt/notesMasters/notesMaster1.xml" Id="R91bb83c508f54ced" /><Relationship Type="http://schemas.openxmlformats.org/officeDocument/2006/relationships/presProps" Target="/ppt/presProps.xml" Id="R55ab5c0385d94817" /><Relationship Type="http://schemas.openxmlformats.org/officeDocument/2006/relationships/tableStyles" Target="/ppt/tableStyles.xml" Id="R10c597cef1c74c43" /><Relationship Type="http://schemas.openxmlformats.org/officeDocument/2006/relationships/slide" Target="/ppt/slides/slide1.xml" Id="Rca6f18a98a7f498d" /><Relationship Type="http://schemas.openxmlformats.org/officeDocument/2006/relationships/slide" Target="/ppt/slides/slide2.xml" Id="Rb71e506bceda4ce3" /><Relationship Type="http://schemas.openxmlformats.org/officeDocument/2006/relationships/slide" Target="/ppt/slides/slide3.xml" Id="R9db3cd2860da4e15" /><Relationship Type="http://schemas.openxmlformats.org/officeDocument/2006/relationships/slide" Target="/ppt/slides/slide4.xml" Id="R9ae6cd45b061446f" /><Relationship Type="http://schemas.openxmlformats.org/officeDocument/2006/relationships/slide" Target="/ppt/slides/slide5.xml" Id="Rab2a5cf249724d27" /><Relationship Type="http://schemas.openxmlformats.org/officeDocument/2006/relationships/slide" Target="/ppt/slides/slide6.xml" Id="Rae29f533bc364ef5" /><Relationship Type="http://schemas.openxmlformats.org/officeDocument/2006/relationships/slide" Target="/ppt/slides/slide7.xml" Id="R03c9e63d332b4d0e" /><Relationship Type="http://schemas.openxmlformats.org/officeDocument/2006/relationships/slide" Target="/ppt/slides/slide8.xml" Id="R3311b15e84de4010" /><Relationship Type="http://schemas.openxmlformats.org/officeDocument/2006/relationships/slide" Target="/ppt/slides/slide9.xml" Id="Ra29a62aa11fb48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fae3d6e39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2164050d1349e7" /><Relationship Type="http://schemas.openxmlformats.org/officeDocument/2006/relationships/notesMaster" Target="/ppt/notesMasters/notesMaster1.xml" Id="Rc609dd443493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b709bf3814966" /><Relationship Type="http://schemas.openxmlformats.org/officeDocument/2006/relationships/notesMaster" Target="/ppt/notesMasters/notesMaster1.xml" Id="R0604e544d1584e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88fa3337df409d" /><Relationship Type="http://schemas.openxmlformats.org/officeDocument/2006/relationships/notesMaster" Target="/ppt/notesMasters/notesMaster1.xml" Id="Rf070ac0bbace4f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fff6a9e7864316" /><Relationship Type="http://schemas.openxmlformats.org/officeDocument/2006/relationships/notesMaster" Target="/ppt/notesMasters/notesMaster1.xml" Id="R64ff683c4c554e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2e0aeb744c40d2" /><Relationship Type="http://schemas.openxmlformats.org/officeDocument/2006/relationships/notesMaster" Target="/ppt/notesMasters/notesMaster1.xml" Id="Rec75b73d70cd4e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f33057ae9047e2" /><Relationship Type="http://schemas.openxmlformats.org/officeDocument/2006/relationships/notesMaster" Target="/ppt/notesMasters/notesMaster1.xml" Id="Rb34c2b4788cd42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36fa4d7c1418d" /><Relationship Type="http://schemas.openxmlformats.org/officeDocument/2006/relationships/notesMaster" Target="/ppt/notesMasters/notesMaster1.xml" Id="Rfa470c93c08f40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fd1025122c4a68" /><Relationship Type="http://schemas.openxmlformats.org/officeDocument/2006/relationships/notesMaster" Target="/ppt/notesMasters/notesMaster1.xml" Id="R85d57d4853f143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796b40d9ef4c06" /><Relationship Type="http://schemas.openxmlformats.org/officeDocument/2006/relationships/notesMaster" Target="/ppt/notesMasters/notesMaster1.xml" Id="R8790d849f0c7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243ab7c7e42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cd50f2eac749a2" /><Relationship Type="http://schemas.openxmlformats.org/officeDocument/2006/relationships/slideLayout" Target="/ppt/slideLayouts/slideLayout1.xml" Id="R258ec74560024f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ec74560024f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0fe4d31e847ff" /><Relationship Type="http://schemas.openxmlformats.org/officeDocument/2006/relationships/notesSlide" Target="/ppt/notesSlides/notesSlide1.xml" Id="Rf61bf870e2db44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4f119a9e4140" /><Relationship Type="http://schemas.openxmlformats.org/officeDocument/2006/relationships/notesSlide" Target="/ppt/notesSlides/notesSlide2.xml" Id="Rb850de3d1709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ef72734584b4e" /><Relationship Type="http://schemas.openxmlformats.org/officeDocument/2006/relationships/notesSlide" Target="/ppt/notesSlides/notesSlide3.xml" Id="R08a7c41ab289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124e868d04b38" /><Relationship Type="http://schemas.openxmlformats.org/officeDocument/2006/relationships/notesSlide" Target="/ppt/notesSlides/notesSlide4.xml" Id="R1ca1795d71324b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447c3b9c045e5" /><Relationship Type="http://schemas.openxmlformats.org/officeDocument/2006/relationships/notesSlide" Target="/ppt/notesSlides/notesSlide5.xml" Id="R8b1c74af55e649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ee1a64a4f47ff" /><Relationship Type="http://schemas.openxmlformats.org/officeDocument/2006/relationships/notesSlide" Target="/ppt/notesSlides/notesSlide6.xml" Id="R06db43031d9f47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9a0245aed4937" /><Relationship Type="http://schemas.openxmlformats.org/officeDocument/2006/relationships/notesSlide" Target="/ppt/notesSlides/notesSlide7.xml" Id="R0dc020fdf2844b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0aa2c6c854a8b" /><Relationship Type="http://schemas.openxmlformats.org/officeDocument/2006/relationships/notesSlide" Target="/ppt/notesSlides/notesSlide8.xml" Id="Rcfa29dc7264146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3853385fb4cb9" /><Relationship Type="http://schemas.openxmlformats.org/officeDocument/2006/relationships/notesSlide" Target="/ppt/notesSlides/notesSlide9.xml" Id="R37ba7687ff6449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152D3-B416-40AC-B74E-BFBD563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7BC54-17D8-4B22-93A0-C44E7091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780C8-B441-46C6-A00D-6955D694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03263-8724-4407-A47D-5E0C1FA4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E92AB-8129-4AAC-9EBB-DB5F10C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9C4DF-EED4-4623-B2E9-7A28371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B649-AE2C-49E7-BB6B-C7D1367E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2F371-5E42-4111-AF37-1A70B01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D7E8"/>
                </a:solidFill>
              </a:defRPr>
            </a:pPr>
            <a:r>
              <a:rPr sz="2250" b="1">
                <a:solidFill>
                  <a:srgbClr val="24D7E8"/>
                </a:solidFill>
              </a:rPr>
              <a:t>Audion Voice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BFDB7-51A7-4EAE-B76D-976EE61F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048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2FF"/>
                </a:solidFill>
              </a:defRPr>
            </a:pPr>
            <a:r>
              <a:rPr sz="3300" b="1">
                <a:solidFill>
                  <a:srgbClr val="EAF2FF"/>
                </a:solidFill>
              </a:rPr>
              <a:t>Audion Voice AI turns speech into structured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5AD6B-7C9C-4714-84E1-5E27126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0C3"/>
                </a:solidFill>
              </a:defRPr>
            </a:pPr>
            <a:r>
              <a:rPr sz="1350" b="0">
                <a:solidFill>
                  <a:srgbClr val="9FB0C3"/>
                </a:solidFill>
              </a:rPr>
              <a:t>Live dictation, file transcription, local engines, cleanup, and Notion/Obsidian export sit in one controlled desktop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340BA-B5C7-43D6-BA6B-5E32FFC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39D04-4335-4305-ACF4-97F9B11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24D7E8"/>
                </a:solidFill>
              </a:defRPr>
            </a:pPr>
            <a:r>
              <a:rPr sz="885" b="1">
                <a:solidFill>
                  <a:srgbClr val="24D7E8"/>
                </a:solidFill>
              </a:rPr>
              <a:t>Live +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80858-6843-4D85-910A-609B6D95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0A577-F81D-45A3-9728-3704ADBD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EAF2FF"/>
                </a:solidFill>
              </a:defRPr>
            </a:pPr>
            <a:r>
              <a:rPr sz="885" b="1">
                <a:solidFill>
                  <a:srgbClr val="EAF2FF"/>
                </a:solidFill>
              </a:rPr>
              <a:t>API +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96241-079E-4AB4-9763-A5A21930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E09D2-141B-4E48-A29D-5F4193C7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EAF2FF"/>
                </a:solidFill>
              </a:defRPr>
            </a:pPr>
            <a:r>
              <a:rPr sz="885" b="1">
                <a:solidFill>
                  <a:srgbClr val="EAF2FF"/>
                </a:solidFill>
              </a:rPr>
              <a:t>Portable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AA27E-82B0-4FF5-8E6B-12EEBE01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385A7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1F440-5691-4FFC-950E-E0ADB1DD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9EC8A-1FCD-44CE-BFD8-6D163C87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954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D7E8"/>
                </a:solidFill>
              </a:defRPr>
            </a:pPr>
            <a:r>
              <a:rPr sz="975" b="1">
                <a:solidFill>
                  <a:srgbClr val="24D7E8"/>
                </a:solidFill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77753-85AA-46A3-BCFF-E55D7D78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E8A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81BFA-4D13-4816-81A1-97629A4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05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8AF7"/>
                </a:solidFill>
              </a:defRPr>
            </a:pPr>
            <a:r>
              <a:rPr sz="975" b="1">
                <a:solidFill>
                  <a:srgbClr val="2E8AF7"/>
                </a:solidFill>
              </a:rPr>
              <a:t>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8ED09-9431-4227-86E4-9427961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2C656-7BF2-449D-BAE9-7FBD3005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146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CF6"/>
                </a:solidFill>
              </a:defRPr>
            </a:pPr>
            <a:r>
              <a:rPr sz="975" b="1">
                <a:solidFill>
                  <a:srgbClr val="8B5CF6"/>
                </a:solidFill>
              </a:rPr>
              <a:t>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E5FB1-E88B-4335-B290-F1ED8B03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F7B24-7821-4F40-8468-BAF7D6D2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D399"/>
                </a:solidFill>
              </a:defRPr>
            </a:pPr>
            <a:r>
              <a:rPr sz="975" b="1">
                <a:solidFill>
                  <a:srgbClr val="34D399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1992225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A84AE-38EA-4216-B7EF-6C1B0E9F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54CB1-4527-44E6-8738-196F3CA1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1F81D-2742-471F-89AF-A1003C60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6CDD-9F28-42D6-8E67-51094574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F1CA9-ADA2-4101-BD77-91E4F0DF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8D622-D4AB-44B5-968D-ED02EEE4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64FE7-7665-4567-AD2C-D13467E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E5BEA-175D-4B02-B572-6CEF431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The app solves the messy middle between raw audio and usable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24862-15F0-4EF3-B3EC-9BF78E77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6212F-21D7-4BAB-B927-313CAB2B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The product is built around repeatable STT operations, not a one-off transcription button.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A5021-E78D-44A6-AD55-F73926DA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FE4F8-1F4D-454C-87F9-6FA6D0C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E9788-E833-49C8-8A38-7261621C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Long recordings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231A1-3830-4F1B-9797-CB482E1E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Queues, FFmpeg ingest, source-side outputs, and retryable processing keep large jobs understandable.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51527-162B-4257-80E1-F666AA4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31519-E668-4AFA-898A-C8BC569E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A436B-95D7-45C5-BF19-D9B2B4B4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Live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3FF62-A419-45C8-8BF8-8CBCF138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Push-to-talk, overlay partials, cleanup, and tray actions make dictation fast enough for daily 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CFE0E-AD58-4CA9-828C-969D8513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8B483-0DE9-4770-AD3B-3524FC8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EB75C-B247-42DE-802D-ADE6FE6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Portable setup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70CF8-AF8C-4176-A2EE-C4B8047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Runtime, tools, models, and wheel caches are installed in visible steps and can be rebuilt.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8A129-60EF-4DF8-9C03-1519A98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F6FDA-BABE-42DF-8CD5-ABF5596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Central idea: the UI exposes the workflow while the installer keeps every backend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154862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4316D-3224-495F-8A67-7C40A114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CCA91-3146-4625-AFCD-CBF361DB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222D2-0979-47D0-BF70-05186173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3F4B7-C6C9-4BA1-B232-9C1ECB63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FDDDF-8AA0-4A04-89A3-1950F609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459BF-7E26-4C22-A026-19AA9A3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63E70-B066-4C6D-BBE6-1CC6DD42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1A406-96AE-4C16-BA13-E0BD85BC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Two editions keep laptop work and CUDA work cleanly separated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4B8BF-A5DF-4BB5-ADAD-A11DC6D0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4502F-5DDE-48BA-B156-DDAD1BC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Live stays compact; Studio adds heavy local acceleration without burdening the everyday build.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EBB6D-4E0D-4B0E-B586-7A23F9C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D69EB-A314-49D1-A808-BEE66EC9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23458-F4EA-4ED3-A62B-22640C6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Voice AI 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2DB2C-8D36-46EA-919D-29BBE1A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2961F-37E1-4A85-94B9-790C6955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DED3C-EEE8-4FF9-B80D-DD2E4805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25184-988C-458F-AFA4-68C8C1B6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Voice AI Studio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8008A-7830-4B9E-B759-6EA0C507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8B4C7-67AD-4842-9510-67FA244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9070B-2A4D-4BF1-9D71-9F5F32C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OpenAI, xAI, ElevenLabs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726C2-CC0A-475D-9994-A077882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283FF-6717-4D84-9CF9-2C6657A2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GigaAM and whisper.cpp local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A5BBC-80C7-41DD-A411-C7BCBAF5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2C2A7-E067-42BA-A196-A7D18A11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DirectML or CPU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20757-6BAD-4A89-B18B-599D2FF7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5189B-3C66-49B2-8B53-A7C56857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Small footprint for daily machines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6D75EF-411C-44A6-97C3-AF7A83DF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06665-F65D-4717-A20A-022BF06B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Everything in Live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4052F-4F89-4217-B7AD-EDEDDD9A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99A901-8A23-45DE-BD06-DB0F03C2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CUDA / TensorRT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033E7-59B9-431F-B49F-0C02034F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7A82D-4E6A-4396-B629-A93ABE4A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faster-whisper large models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62F6FE-7BE1-4234-AFE6-26F059CA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8416E-C14F-4091-B27E-5DA0A64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GPU diarization with pyannote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80B91F-BD47-4299-8DAD-793D4DF9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8915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2C4E8-F446-474C-A16B-9DB19C08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AF7"/>
                </a:solidFill>
              </a:defRPr>
            </a:pPr>
            <a:r>
              <a:rPr sz="1050" b="1">
                <a:solidFill>
                  <a:srgbClr val="2E8AF7"/>
                </a:solidFill>
              </a:rPr>
              <a:t>Working rule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13CE54-C563-4B57-9B60-88F44067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054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AF2FF"/>
                </a:solidFill>
              </a:defRPr>
            </a:pPr>
            <a:r>
              <a:rPr sz="1088" b="1">
                <a:solidFill>
                  <a:srgbClr val="EAF2FF"/>
                </a:solidFill>
              </a:rPr>
              <a:t>Live is the primary app; Studio is the workstation extension.</a:t>
            </a:r>
          </a:p>
        </p:txBody>
      </p:sp>
    </p:spTree>
    <p:extLst>
      <p:ext uri="{BB962C8B-B14F-4D97-AF65-F5344CB8AC3E}">
        <p14:creationId xmlns:p14="http://schemas.microsoft.com/office/powerpoint/2010/main" val="40872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EDAC0-A7B1-4323-AE69-54F3202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B7A87-879E-44E2-B272-9BAADCE4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E95E7-499C-4C04-8748-C1D3B3D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D0EB6-C612-465D-9796-AD9E3142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E1DC2-1548-49CC-BCB4-1D2B93E3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814BE-01CB-4201-9C47-F45C9169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E0FF1-459E-4631-A0AD-6A6F4D21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E60B9-C290-41AF-891F-EEFFA42C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The interface is organized around the jobs users actually repeat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88B05-8ABA-49AF-B767-D06E68C0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B112F-E6D5-4C23-B295-F32B3B1C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Tabs reduce scrolling and keep compute, setup, and export decisions visible without turning the screen into a control dump.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83747-9399-4DF8-B144-E2EAC9AB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B30DD-FC3C-419E-A36B-DBAC6F3E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17715-B618-45B9-A868-D78EBE7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5E9AB-2D54-4ABE-A233-1E40314A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Dictation, API/local source, overlay, cleanup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F7BE5-1189-48CC-8BD9-4978A740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36ADD-C791-4609-BAFF-B13DF87E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2C763-4F50-45DA-B479-566F344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5E394-D6C4-43FC-B930-8F4D26C6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C39B0-DDB3-4AAF-BD8D-D6E96A16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File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B5E42-D112-4D99-894B-7FF7C37B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Queue, engine, language, post-processing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A449C-0A3D-4D05-A1EA-48C43243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9174A-3125-499D-8801-3B82FFB3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4FF00-D4E7-4895-A064-43D846F3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D6FA5-1CB7-45C9-AD01-13DB6892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A24FB-3998-4EF7-9E99-E595FC5B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74EF3-2B02-413F-94BD-1CB970C6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Theme, formats, subtitles, tray 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3B4F0-58A8-4E00-9F15-21172A32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10A19-FEE1-40CD-A8A5-7D6F19B6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83CE7-A4BE-4D20-BF9E-3325F57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B18B7-C6F2-43FD-A35E-F3E86AB1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9FEA5B-D277-4AB2-878F-D3C31F67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Setup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093BE9-B821-49F2-90DB-1E71E914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Modules, keys, progress, diagnostics</a:t>
            </a:r>
          </a:p>
        </p:txBody>
      </p:sp>
    </p:spTree>
    <p:extLst>
      <p:ext uri="{BB962C8B-B14F-4D97-AF65-F5344CB8AC3E}">
        <p14:creationId xmlns:p14="http://schemas.microsoft.com/office/powerpoint/2010/main" val="703166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E24A8E-84C2-4A5C-B02E-01856B27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070E0-C095-4ABF-B66C-60FF150D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C93DD-F0D5-45C7-90C3-0D7DE08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ED469-C54E-40BC-9953-773BDDC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46FEC-C885-4F0F-B44D-296F5FAF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64C6C-4BAE-4EB4-A72C-D3A46CD1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038ED-930C-4128-BEEB-85CF5E93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3FAAA-A639-466F-8D6D-87794867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Model choices are grouped by intent, not by raw provider catalogs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60C74-E0CD-4ED2-86C1-8ADDFF5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D0CAA-844C-4C7A-9014-3C1D5DDE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Users first choose the job: API models for cloud speed, Local Models for privacy and long work, CUDA for Studio throughput.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0916A-D144-4FAA-A42B-A5F1A24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0F6A-FC4D-4B7C-BFDA-72A5761B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D7E8"/>
                </a:solidFill>
              </a:defRPr>
            </a:pPr>
            <a:r>
              <a:rPr sz="1500" b="1">
                <a:solidFill>
                  <a:srgbClr val="24D7E8"/>
                </a:solidFill>
              </a:rPr>
              <a:t>API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E4F48-4882-4EDE-8D2D-FF54223C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2FF"/>
                </a:solidFill>
              </a:defRPr>
            </a:pPr>
            <a:r>
              <a:rPr sz="1200" b="1">
                <a:solidFill>
                  <a:srgbClr val="EAF2FF"/>
                </a:solidFill>
              </a:rPr>
              <a:t>OpenAI profiles, xAI Realtime, ElevenLabs Realtime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F0DE3-62A7-4D78-825A-0FD5BB0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9FB0C3"/>
                </a:solidFill>
              </a:defRPr>
            </a:pPr>
            <a:r>
              <a:rPr sz="1005" b="0">
                <a:solidFill>
                  <a:srgbClr val="9FB0C3"/>
                </a:solidFill>
              </a:rPr>
              <a:t>Fixed Live choices reduce user error.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7205E-5364-4C5F-9961-EED84904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12D60-FE47-4ECB-A845-944E4165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8AF7"/>
                </a:solidFill>
              </a:defRPr>
            </a:pPr>
            <a:r>
              <a:rPr sz="1500" b="1">
                <a:solidFill>
                  <a:srgbClr val="2E8AF7"/>
                </a:solidFill>
              </a:rPr>
              <a:t>Local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6F007-AC4E-4AD0-A28A-F0E25DA8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2FF"/>
                </a:solidFill>
              </a:defRPr>
            </a:pPr>
            <a:r>
              <a:rPr sz="1200" b="1">
                <a:solidFill>
                  <a:srgbClr val="EAF2FF"/>
                </a:solidFill>
              </a:rPr>
              <a:t>GigaAM ONNX and whisper.cpp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4F54F-DE34-455D-A4CD-58CEF932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9FB0C3"/>
                </a:solidFill>
              </a:defRPr>
            </a:pPr>
            <a:r>
              <a:rPr sz="1005" b="0">
                <a:solidFill>
                  <a:srgbClr val="9FB0C3"/>
                </a:solidFill>
              </a:rPr>
              <a:t>DirectML is the lightweight Windows default.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A9286-F1CC-4534-8902-B41B43F4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683A1-EDA4-4DAF-B732-6F1EE8FD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CUDA / TensorRT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81A14-E527-42D8-A297-5F6FFB6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2FF"/>
                </a:solidFill>
              </a:defRPr>
            </a:pPr>
            <a:r>
              <a:rPr sz="1200" b="1">
                <a:solidFill>
                  <a:srgbClr val="EAF2FF"/>
                </a:solidFill>
              </a:rPr>
              <a:t>Studio-only faster-whisper and pyannote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476D6-0245-498B-B34C-C8E8F3C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9FB0C3"/>
                </a:solidFill>
              </a:defRPr>
            </a:pPr>
            <a:r>
              <a:rPr sz="1005" b="0">
                <a:solidFill>
                  <a:srgbClr val="9FB0C3"/>
                </a:solidFill>
              </a:rPr>
              <a:t>Built for RTX-class workstations.</a:t>
            </a:r>
          </a:p>
        </p:txBody>
      </p:sp>
    </p:spTree>
    <p:extLst>
      <p:ext uri="{BB962C8B-B14F-4D97-AF65-F5344CB8AC3E}">
        <p14:creationId xmlns:p14="http://schemas.microsoft.com/office/powerpoint/2010/main" val="1433224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B707F3-C4F9-45E7-BD94-958F6A05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45108-E7A9-49DA-8678-31FE0CD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AF509-4346-4452-B4D7-E743D48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DF51A-D2FB-466A-BF8D-A2E27C1F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66221-069B-4DDA-AAFE-8368B07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0C1AA-5FDA-4C02-AE9A-4BDB156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673FE-5E0B-4BA3-917F-E42E8EB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B02AE-D402-442C-9BF5-51CE2D6D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Setup is split into stable layers so failures are easy to find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83D86-331C-46A9-9C80-BFB8EC1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AFB4A-BBE8-49AF-84B5-CB7DC573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The builder and GUI use the same install scripts; regular users work from the Setup tab once the app launches.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D0BF1-FBF2-412C-B4BA-32371F8C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1744B-AFCD-4133-B760-7827917C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EBDEE-9CC4-4EC6-8061-F8F3E4E8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Folders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A10A4-9089-4932-A2C0-F54B6544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A6857-2C82-4387-806C-FA3EED35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23F04-F268-41D3-8523-39E69954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AF2FF"/>
                </a:solidFill>
              </a:defRPr>
            </a:pPr>
            <a:r>
              <a:rPr sz="863" b="1">
                <a:solidFill>
                  <a:srgbClr val="EAF2FF"/>
                </a:solidFill>
              </a:rPr>
              <a:t>Portable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6F4E9-A2AC-41D5-AB0A-5A368F99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39793-E533-4210-BE8F-F4F3B8FE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960F5-1215-4C2D-BC58-000A0D1A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FFmpeg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5EC35-44F5-47C0-B6F7-BB5A9968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EF13B-0EC0-4C1B-AD78-DBE52B65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803A3-5B71-48CF-A7AC-FE26E84D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Live deps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85802-F6DD-42D9-9864-D1F11D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2B3B8-E84E-43AF-AF6D-117717AC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D7E8"/>
                </a:solidFill>
              </a:defRPr>
            </a:pPr>
            <a:r>
              <a:rPr sz="900" b="1">
                <a:solidFill>
                  <a:srgbClr val="24D7E8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65E07-24F6-44F9-97C1-4727E554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Wheel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46D09-02E2-4C42-BB92-3EBB46E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80982-03E4-4D0F-87F7-F24BEDCD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233E44-BB0A-4E8B-B74E-978BC076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GigaAM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0DCCF-EF69-4CA5-93AB-DF0AC597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2FD50-5920-48E3-8DE7-C0F1F54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A09616-493E-4872-8851-0AF5ED70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whisper.cpp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F10322-43DF-49CB-8FBF-371F1B4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927C10-D7CC-4B98-8C2E-F44E090D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C49EEE-D563-48FE-92BA-69C11CCB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1B9473-930F-41B5-A939-2B0BAA4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941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BD43D-374E-40B5-80C8-C66591F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883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EAF2FF"/>
                </a:solidFill>
              </a:defRPr>
            </a:pPr>
            <a:r>
              <a:rPr sz="1140" b="1">
                <a:solidFill>
                  <a:srgbClr val="EAF2FF"/>
                </a:solidFill>
              </a:rPr>
              <a:t>Cleanup removes reproducible payloads, while configs, scripts, system_core, tests, and docs stay protected.</a:t>
            </a:r>
          </a:p>
        </p:txBody>
      </p:sp>
    </p:spTree>
    <p:extLst>
      <p:ext uri="{BB962C8B-B14F-4D97-AF65-F5344CB8AC3E}">
        <p14:creationId xmlns:p14="http://schemas.microsoft.com/office/powerpoint/2010/main" val="828451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5AED8-8716-4A02-AAE6-210D92B7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DB973-E9CD-48B3-89A3-ADD9527B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6AB3F-A836-4BC8-93C6-1D4BA3C1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7379-28ED-4070-B8BC-380D7824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03E00-57AE-4B72-9958-DCC14C4C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9BE0B-FC74-4995-80AE-42FE4CB5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0D029-0D0D-4BE1-AC80-FAB470E0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ECEEE-065C-414E-9A90-D333F88E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Live dictation starts capture before the network path is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5AD1D-F515-4795-AA63-9A496889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E5DF5-C51D-4441-A82A-4DC35EAB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The microphone opens first, so fast speakers do not lose the beginning of a phrase while Realtime or local models warm 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5634D-C422-4910-8001-1DE80D9A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C72F6-C659-4EB4-86E6-7B136C1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B26C0-58C2-416C-BEE7-BC5F57F0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Hotkey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8708C-1CAC-4742-BA8A-5518C980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Alt+Win or continuous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A3CFC-7B04-4934-88E3-B6454FA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EB9E8-1AD1-4EF4-9B3B-9ACB6F01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9E2DA-82FB-41C9-BF9C-7D04E9B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540E0-26BC-4743-9D87-DCC64A16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637AB-7D83-49A6-BFF6-D4D6BECE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Mic 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0BFCF-25A3-4A19-954D-2A9AD749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PCM16 input, no file saved by diagnostics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E8F9E-96CA-4502-B5DE-F1328D08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E55D8-7B1B-46E7-9D73-19B9BFB6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321C4-6B18-4A79-9688-6C601FA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04F1D-5749-4E49-A176-6224E0D8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B6346-68B6-46E5-B3CB-F95B6C1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STT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6C821-686A-4682-969D-A4BEE59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OpenAI, xAI, ElevenLabs, GigaAM, whisper.cpp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8B731-D80E-41CD-BFFD-E9429CA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F68C4-D2D4-4573-B039-1D3AEE79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01189-7D6F-4122-B868-F5AF2B74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207B5-3AC2-4305-9D02-8FF5BEA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1364D1-630A-4923-AAE8-D2DB8FAC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FBB138-523E-43D2-AC37-4F6682E6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Overlay, paste, log, export</a:t>
            </a:r>
          </a:p>
        </p:txBody>
      </p:sp>
    </p:spTree>
    <p:extLst>
      <p:ext uri="{BB962C8B-B14F-4D97-AF65-F5344CB8AC3E}">
        <p14:creationId xmlns:p14="http://schemas.microsoft.com/office/powerpoint/2010/main" val="1411402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4AB2D-3EC7-496C-9E79-6787ED4C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77701-EE82-4F21-88B6-8D60F335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73824-E971-4C70-A8F8-A2D865EE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060F2-7CC2-4473-AA8E-6AB1169C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C8B1F-9074-489E-9CD4-3406A11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6B9DD-3B2E-40AB-A8C9-50D5BEA5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1C308-0AEC-47E5-B421-7322F2C8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81A29-8642-40EB-964A-9DE3E5FC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Local models give privacy without making every laptop a CUDA machine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5594A-EEA8-47B6-B161-B922CD02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6D44-6815-4AF5-8DF7-F22F4706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The local path is useful because it is explicit, diagnosable, and allowed to fall back gracefully.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D80A9-FB57-4365-B44A-E7D7AF1D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1E047-1D7D-462C-A8E6-ACA87BEE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627BB-70A0-49C6-AE06-F41E166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GigaAM default for 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8CBE8-F3EE-4575-9474-BCD0AAD1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A small ONNX model can stay warm in Live without consuming workstation-class memory.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89209-24B3-4265-BA0A-AD5EDE9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DB042-6B2C-496C-BF45-2274BF8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F3C18-8148-4E4B-A458-FA64EEE9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whisper.cpp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919F6-0EBB-4CCF-949D-83D57191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Vulkan is used when present; official CPU fallback keeps the path available.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BBE8A-E4C4-4D10-A383-75CB5EA3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D8A59-BC6F-4661-B72A-6971DE96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AF186-270D-40B9-BAC3-1EB7D837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Mic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628ED-2B1C-44A0-8390-2AD7D7D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Setup can now open the input stream, count PCM bytes, and report clear Windows audio hints.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2BC24-A1D4-4D9A-80E5-AD8A8C12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D9458-0FBB-4A37-828F-C11F439D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The user sees readiness, not mystery: missing dependencies, devices, and stream errors are visible.</a:t>
            </a:r>
          </a:p>
        </p:txBody>
      </p:sp>
    </p:spTree>
    <p:extLst>
      <p:ext uri="{BB962C8B-B14F-4D97-AF65-F5344CB8AC3E}">
        <p14:creationId xmlns:p14="http://schemas.microsoft.com/office/powerpoint/2010/main" val="1138579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33E6B-192B-40E2-A869-D38E3E6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E52CB-3D09-4BFF-9DD9-EB85785F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D6DA8-DAC0-4F16-B9E6-99A93440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47BBB-986C-4993-B596-C250C4B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2499-0DB4-42F2-8E54-B145F38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94118-6DAF-4C3E-8923-48223B4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54D5C-3DAE-4547-B4C8-8AE1FC2B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3D9A0-6C71-4C41-BA90-669F334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The remaining risk is backend validation, not the product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90A57-1567-474B-A48C-F5A1F12E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43E91-4C64-46F9-8CFB-430FABC6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The UI, installer workflow, docs, and Live rebuild path are now in a coherent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9E565-68E4-415F-850C-3AABB7A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3602C-72BC-4F50-BD2F-84B0A28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D7E8"/>
                </a:solidFill>
              </a:defRPr>
            </a:pPr>
            <a:r>
              <a:rPr sz="2550" b="1">
                <a:solidFill>
                  <a:srgbClr val="24D7E8"/>
                </a:solidFill>
              </a:rPr>
              <a:t>136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5FDBF-4777-4E45-9FB1-06AFF9B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9FB0C3"/>
                </a:solidFill>
              </a:defRPr>
            </a:pPr>
            <a:r>
              <a:rPr sz="953" b="0">
                <a:solidFill>
                  <a:srgbClr val="9FB0C3"/>
                </a:solidFill>
              </a:rPr>
              <a:t>Live tests passed after real cleanup and rebuild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44CCB-6AFD-4374-AD0A-619DC8C3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4DAE9-5D40-4821-BE4E-B408811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8AF7"/>
                </a:solidFill>
              </a:defRPr>
            </a:pPr>
            <a:r>
              <a:rPr sz="2550" b="1">
                <a:solidFill>
                  <a:srgbClr val="2E8AF7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F6072-762F-4953-8DFE-3ABB1BBB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9FB0C3"/>
                </a:solidFill>
              </a:defRPr>
            </a:pPr>
            <a:r>
              <a:rPr sz="953" b="0">
                <a:solidFill>
                  <a:srgbClr val="9FB0C3"/>
                </a:solidFill>
              </a:rPr>
              <a:t>User-facing tabs: Live, File operations, Settings,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B1C39-F7EA-461B-8393-E1584FEF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2979E-9BE8-4934-94E1-15DB6DDA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4D399"/>
                </a:solidFill>
              </a:defRPr>
            </a:pPr>
            <a:r>
              <a:rPr sz="2550" b="1">
                <a:solidFill>
                  <a:srgbClr val="34D399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82B30-1D19-4C57-A0F8-BF3745F9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9FB0C3"/>
                </a:solidFill>
              </a:defRPr>
            </a:pPr>
            <a:r>
              <a:rPr sz="953" b="0">
                <a:solidFill>
                  <a:srgbClr val="9FB0C3"/>
                </a:solidFill>
              </a:rPr>
              <a:t>Themes: Mess Blue and Graphite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7454D-D849-47A6-884B-8A48B126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6774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85A7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13CA4-A468-49BF-810B-CFAB5E44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E9AF4-7333-49B8-8770-AB90E780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577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EAF2FF"/>
                </a:solidFill>
              </a:defRPr>
            </a:pPr>
            <a:r>
              <a:rPr sz="1095" b="0">
                <a:solidFill>
                  <a:srgbClr val="EAF2FF"/>
                </a:solidFill>
              </a:rPr>
              <a:t>Run Studio CUDA smoke tests on the RTX workstation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3A2AC-E91C-445B-9994-74A8F532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79D10-D4A6-48D6-816A-3A1938AE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244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EAF2FF"/>
                </a:solidFill>
              </a:defRPr>
            </a:pPr>
            <a:r>
              <a:rPr sz="1095" b="0">
                <a:solidFill>
                  <a:srgbClr val="EAF2FF"/>
                </a:solidFill>
              </a:rPr>
              <a:t>Verify TensorRT/CUDA model throughput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AD7631-E0BB-46B5-AFB4-EB6AFB7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F27B5C-6926-40C9-AC65-866EFF00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911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EAF2FF"/>
                </a:solidFill>
              </a:defRPr>
            </a:pPr>
            <a:r>
              <a:rPr sz="1095" b="0">
                <a:solidFill>
                  <a:srgbClr val="EAF2FF"/>
                </a:solidFill>
              </a:rPr>
              <a:t>Polish any device-specific audio edge cases after live use</a:t>
            </a:r>
          </a:p>
        </p:txBody>
      </p:sp>
    </p:spTree>
    <p:extLst>
      <p:ext uri="{BB962C8B-B14F-4D97-AF65-F5344CB8AC3E}">
        <p14:creationId xmlns:p14="http://schemas.microsoft.com/office/powerpoint/2010/main" val="1992228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2026-07-02T08:42:11.2750000Z</dcterms:created>
  <dcterms:modified xsi:type="dcterms:W3CDTF">2026-07-02T08:42:11.2750000Z</dcterms:modified>
</coreProperties>
</file>
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35dfd37946440c" /><Relationship Type="http://schemas.openxmlformats.org/officeDocument/2006/relationships/extended-properties" Target="/docProps/app.xml" Id="Rb85055e683164233" /><Relationship Type="http://schemas.openxmlformats.org/officeDocument/2006/relationships/officeDocument" Target="/ppt/presentation.xml" Id="R23d606f251e54d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b7e52554054550"/>
  </p:sldMasterIdLst>
  <p:notesMasterIdLst>
    <p:notesMasterId xmlns:r="http://schemas.openxmlformats.org/officeDocument/2006/relationships" r:id="Rfd6ac25292b34996"/>
  </p:notesMasterIdLst>
  <p:sldIdLst>
    <p:sldId xmlns:r="http://schemas.openxmlformats.org/officeDocument/2006/relationships" id="256" r:id="Rae7ebb67b68c4dc3"/>
    <p:sldId xmlns:r="http://schemas.openxmlformats.org/officeDocument/2006/relationships" id="257" r:id="R053d8fc43ebe4b97"/>
    <p:sldId xmlns:r="http://schemas.openxmlformats.org/officeDocument/2006/relationships" id="258" r:id="Re60e9387f0b34b25"/>
    <p:sldId xmlns:r="http://schemas.openxmlformats.org/officeDocument/2006/relationships" id="259" r:id="R92a93457492f4d9d"/>
    <p:sldId xmlns:r="http://schemas.openxmlformats.org/officeDocument/2006/relationships" id="260" r:id="R7cc66cac8b3b43a0"/>
    <p:sldId xmlns:r="http://schemas.openxmlformats.org/officeDocument/2006/relationships" id="261" r:id="R86967a302207404e"/>
    <p:sldId xmlns:r="http://schemas.openxmlformats.org/officeDocument/2006/relationships" id="262" r:id="R1eaf3f3555d04716"/>
    <p:sldId xmlns:r="http://schemas.openxmlformats.org/officeDocument/2006/relationships" id="263" r:id="Rec21be33159e4ea5"/>
    <p:sldId xmlns:r="http://schemas.openxmlformats.org/officeDocument/2006/relationships" id="264" r:id="Rc876ec5311be46d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6f442fc05347a6" /><Relationship Type="http://schemas.openxmlformats.org/officeDocument/2006/relationships/slideMaster" Target="/ppt/slideMasters/slideMaster1.xml" Id="R88b7e52554054550" /><Relationship Type="http://schemas.openxmlformats.org/officeDocument/2006/relationships/notesMaster" Target="/ppt/notesMasters/notesMaster1.xml" Id="Rfd6ac25292b34996" /><Relationship Type="http://schemas.openxmlformats.org/officeDocument/2006/relationships/presProps" Target="/ppt/presProps.xml" Id="R98b3251fc3a641fc" /><Relationship Type="http://schemas.openxmlformats.org/officeDocument/2006/relationships/tableStyles" Target="/ppt/tableStyles.xml" Id="R0d26fc5a19b84e19" /><Relationship Type="http://schemas.openxmlformats.org/officeDocument/2006/relationships/slide" Target="/ppt/slides/slide1.xml" Id="Rae7ebb67b68c4dc3" /><Relationship Type="http://schemas.openxmlformats.org/officeDocument/2006/relationships/slide" Target="/ppt/slides/slide2.xml" Id="R053d8fc43ebe4b97" /><Relationship Type="http://schemas.openxmlformats.org/officeDocument/2006/relationships/slide" Target="/ppt/slides/slide3.xml" Id="Re60e9387f0b34b25" /><Relationship Type="http://schemas.openxmlformats.org/officeDocument/2006/relationships/slide" Target="/ppt/slides/slide4.xml" Id="R92a93457492f4d9d" /><Relationship Type="http://schemas.openxmlformats.org/officeDocument/2006/relationships/slide" Target="/ppt/slides/slide5.xml" Id="R7cc66cac8b3b43a0" /><Relationship Type="http://schemas.openxmlformats.org/officeDocument/2006/relationships/slide" Target="/ppt/slides/slide6.xml" Id="R86967a302207404e" /><Relationship Type="http://schemas.openxmlformats.org/officeDocument/2006/relationships/slide" Target="/ppt/slides/slide7.xml" Id="R1eaf3f3555d04716" /><Relationship Type="http://schemas.openxmlformats.org/officeDocument/2006/relationships/slide" Target="/ppt/slides/slide8.xml" Id="Rec21be33159e4ea5" /><Relationship Type="http://schemas.openxmlformats.org/officeDocument/2006/relationships/slide" Target="/ppt/slides/slide9.xml" Id="Rc876ec5311be46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d569d4d4f746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c837929d7848ef" /><Relationship Type="http://schemas.openxmlformats.org/officeDocument/2006/relationships/notesMaster" Target="/ppt/notesMasters/notesMaster1.xml" Id="R7c29570cdee74f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82d785436f4177" /><Relationship Type="http://schemas.openxmlformats.org/officeDocument/2006/relationships/notesMaster" Target="/ppt/notesMasters/notesMaster1.xml" Id="R403a339b41094a1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796106d278f4d7a" /><Relationship Type="http://schemas.openxmlformats.org/officeDocument/2006/relationships/notesMaster" Target="/ppt/notesMasters/notesMaster1.xml" Id="R3e30ba1ff1d4407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51672714464230" /><Relationship Type="http://schemas.openxmlformats.org/officeDocument/2006/relationships/notesMaster" Target="/ppt/notesMasters/notesMaster1.xml" Id="Rc08e63abcbb44a6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3381ff268314377" /><Relationship Type="http://schemas.openxmlformats.org/officeDocument/2006/relationships/notesMaster" Target="/ppt/notesMasters/notesMaster1.xml" Id="Rc562112a46ec4d4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d8338e3aa054370" /><Relationship Type="http://schemas.openxmlformats.org/officeDocument/2006/relationships/notesMaster" Target="/ppt/notesMasters/notesMaster1.xml" Id="R4731d1398a1f45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123d33448a248aa" /><Relationship Type="http://schemas.openxmlformats.org/officeDocument/2006/relationships/notesMaster" Target="/ppt/notesMasters/notesMaster1.xml" Id="R0c0b162b651d48a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9cf287bc6d44e77" /><Relationship Type="http://schemas.openxmlformats.org/officeDocument/2006/relationships/notesMaster" Target="/ppt/notesMasters/notesMaster1.xml" Id="R49b877930dab469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5e80e3ab8cf4b5a" /><Relationship Type="http://schemas.openxmlformats.org/officeDocument/2006/relationships/notesMaster" Target="/ppt/notesMasters/notesMaster1.xml" Id="Re361ed0da5384e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cdfd61f62148c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298202fd124152" /><Relationship Type="http://schemas.openxmlformats.org/officeDocument/2006/relationships/slideLayout" Target="/ppt/slideLayouts/slideLayout1.xml" Id="R1df9cf6aa51141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f9cf6aa51141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0ef0352d884171" /><Relationship Type="http://schemas.openxmlformats.org/officeDocument/2006/relationships/notesSlide" Target="/ppt/notesSlides/notesSlide1.xml" Id="R5997d861ea884fc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ad0336462c4a82" /><Relationship Type="http://schemas.openxmlformats.org/officeDocument/2006/relationships/notesSlide" Target="/ppt/notesSlides/notesSlide2.xml" Id="R833b674e9b8a4b3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cd2ea1372a4a05" /><Relationship Type="http://schemas.openxmlformats.org/officeDocument/2006/relationships/notesSlide" Target="/ppt/notesSlides/notesSlide3.xml" Id="R0fc83c12c671482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8f921b066c460a" /><Relationship Type="http://schemas.openxmlformats.org/officeDocument/2006/relationships/notesSlide" Target="/ppt/notesSlides/notesSlide4.xml" Id="R5cc13dbb3ecf4e5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99a4f267374cbb" /><Relationship Type="http://schemas.openxmlformats.org/officeDocument/2006/relationships/notesSlide" Target="/ppt/notesSlides/notesSlide5.xml" Id="R6c154d63f1a0485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e37339d7314340" /><Relationship Type="http://schemas.openxmlformats.org/officeDocument/2006/relationships/notesSlide" Target="/ppt/notesSlides/notesSlide6.xml" Id="R1c35c5782d3d4b9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93119ccd8b4dec" /><Relationship Type="http://schemas.openxmlformats.org/officeDocument/2006/relationships/notesSlide" Target="/ppt/notesSlides/notesSlide7.xml" Id="Rabdd62d1af63467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e9ec2b10e7484f" /><Relationship Type="http://schemas.openxmlformats.org/officeDocument/2006/relationships/notesSlide" Target="/ppt/notesSlides/notesSlide8.xml" Id="R595079a89c89461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aa2b131576430b" /><Relationship Type="http://schemas.openxmlformats.org/officeDocument/2006/relationships/notesSlide" Target="/ppt/notesSlides/notesSlide9.xml" Id="Rfc450230ecea4c6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E4F431-55B3-4913-BEF0-C7E88587A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2"/>
          </a:solidFill>
          <a:ln xmlns:a="http://schemas.openxmlformats.org/drawingml/2006/main" w="0">
            <a:solidFill>
              <a:srgbClr val="070B1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29B653-AE8A-42C4-AD58-923725D2A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D"/>
          </a:solidFill>
          <a:ln xmlns:a="http://schemas.openxmlformats.org/drawingml/2006/main" w="0">
            <a:solidFill>
              <a:srgbClr val="0B111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C5FAAB-1258-49B0-8A33-4CD4A3B5D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15F"/>
          </a:solidFill>
          <a:ln xmlns:a="http://schemas.openxmlformats.org/drawingml/2006/main" w="0">
            <a:solidFill>
              <a:srgbClr val="2741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128973-0AE5-46EF-943E-36C88CC7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F2FF"/>
                </a:solidFill>
              </a:defRPr>
            </a:pPr>
            <a:r>
              <a:rPr sz="1275" b="1">
                <a:solidFill>
                  <a:srgbClr val="EAF2FF"/>
                </a:solidFill>
              </a:rPr>
              <a:t>Audion Voice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6F2A74-04FE-47BE-9841-B830B630C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86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FB0C3"/>
                </a:solidFill>
              </a:defRPr>
            </a:pPr>
            <a:r>
              <a:rPr sz="825" b="1">
                <a:solidFill>
                  <a:srgbClr val="9FB0C3"/>
                </a:solidFill>
              </a:rPr>
              <a:t>PRODUCT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BA0719-1060-459B-A845-A9D4EF88C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436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5708E"/>
                </a:solidFill>
              </a:defRPr>
            </a:pPr>
            <a:r>
              <a:rPr sz="750" b="0">
                <a:solidFill>
                  <a:srgbClr val="55708E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E34E61-5F4E-4876-8D57-6AC60008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5708E"/>
                </a:solidFill>
              </a:defRPr>
            </a:pPr>
            <a:r>
              <a:rPr sz="713" b="0">
                <a:solidFill>
                  <a:srgbClr val="55708E"/>
                </a:solidFill>
              </a:rPr>
              <a:t>Audion Voice AI overview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B307ED-210A-40D8-A079-04DC5969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D7E8"/>
                </a:solidFill>
              </a:defRPr>
            </a:pPr>
            <a:r>
              <a:rPr sz="2250" b="1">
                <a:solidFill>
                  <a:srgbClr val="24D7E8"/>
                </a:solidFill>
              </a:rPr>
              <a:t>Audion Voice 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102BE2-6692-4E6A-8948-C9D9245AF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7048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EAF2FF"/>
                </a:solidFill>
              </a:defRPr>
            </a:pPr>
            <a:r>
              <a:rPr sz="3300" b="1">
                <a:solidFill>
                  <a:srgbClr val="EAF2FF"/>
                </a:solidFill>
              </a:rPr>
              <a:t>Audion Voice AI превращает речь в рабочую структуру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76B51B-998E-4DCC-AE99-732C8B699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685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FB0C3"/>
                </a:solidFill>
              </a:defRPr>
            </a:pPr>
            <a:r>
              <a:rPr sz="1350" b="0">
                <a:solidFill>
                  <a:srgbClr val="9FB0C3"/>
                </a:solidFill>
              </a:rPr>
              <a:t>Live-диктовка, файловая транскрибация, локальные движки, чистка текста и экспорт в Notion/Obsidian собраны в одном управляемом desktop-workflow.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B861FC-62B4-4807-B76E-834E93AD5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5621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D30"/>
          </a:solidFill>
          <a:ln xmlns:a="http://schemas.openxmlformats.org/drawingml/2006/main" w="9525">
            <a:solidFill>
              <a:srgbClr val="24D7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A93DE7-9E56-452E-8661-B4EC3A8D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2440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24D7E8"/>
                </a:solidFill>
              </a:defRPr>
            </a:pPr>
            <a:r>
              <a:rPr sz="885" b="1">
                <a:solidFill>
                  <a:srgbClr val="24D7E8"/>
                </a:solidFill>
              </a:rPr>
              <a:t>Live + файлы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F91C2A-C388-4EBB-B35C-748424E95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86300"/>
            <a:ext cx="15621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D30"/>
          </a:solidFill>
          <a:ln xmlns:a="http://schemas.openxmlformats.org/drawingml/2006/main" w="9525">
            <a:solidFill>
              <a:srgbClr val="27415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D0F1F5-CDD0-47F4-ABA1-BF889FB00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72440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EAF2FF"/>
                </a:solidFill>
              </a:defRPr>
            </a:pPr>
            <a:r>
              <a:rPr sz="885" b="1">
                <a:solidFill>
                  <a:srgbClr val="EAF2FF"/>
                </a:solidFill>
              </a:rPr>
              <a:t>API + local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1C7273-8EAB-4D66-AD53-D7161DA2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686300"/>
            <a:ext cx="1562100" cy="438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D30"/>
          </a:solidFill>
          <a:ln xmlns:a="http://schemas.openxmlformats.org/drawingml/2006/main" w="9525">
            <a:solidFill>
              <a:srgbClr val="27415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78E9D1-FB59-4381-A41D-5F7CA2813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724400"/>
            <a:ext cx="133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85" b="1">
                <a:solidFill>
                  <a:srgbClr val="EAF2FF"/>
                </a:solidFill>
              </a:defRPr>
            </a:pPr>
            <a:r>
              <a:rPr sz="885" b="1">
                <a:solidFill>
                  <a:srgbClr val="EAF2FF"/>
                </a:solidFill>
              </a:rPr>
              <a:t>Portable Windows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376C38-A308-49BE-BF78-C2CBA41F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28750"/>
            <a:ext cx="2857500" cy="34290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11430">
            <a:solidFill>
              <a:srgbClr val="385A7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0C2D47-3780-4534-A7F7-5DB12D13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2190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11D30"/>
          </a:solidFill>
          <a:ln xmlns:a="http://schemas.openxmlformats.org/drawingml/2006/main" w="9525">
            <a:solidFill>
              <a:srgbClr val="24D7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FB40A6-A7B4-48AC-B9D5-D95BACE8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895475"/>
            <a:ext cx="1771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D7E8"/>
                </a:solidFill>
              </a:defRPr>
            </a:pPr>
            <a:r>
              <a:rPr sz="975" b="1">
                <a:solidFill>
                  <a:srgbClr val="24D7E8"/>
                </a:solidFill>
              </a:rPr>
              <a:t>Live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729051-ED34-439F-A482-89B712582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00300"/>
            <a:ext cx="2190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11D30"/>
          </a:solidFill>
          <a:ln xmlns:a="http://schemas.openxmlformats.org/drawingml/2006/main" w="9525">
            <a:solidFill>
              <a:srgbClr val="2E8AF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DEE6C0-C7BB-4160-A74B-36CF58E18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05075"/>
            <a:ext cx="1771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E8AF7"/>
                </a:solidFill>
              </a:defRPr>
            </a:pPr>
            <a:r>
              <a:rPr sz="975" b="1">
                <a:solidFill>
                  <a:srgbClr val="2E8AF7"/>
                </a:solidFill>
              </a:rPr>
              <a:t>Files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76D479-C81F-4F0B-B654-FF09A465E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09900"/>
            <a:ext cx="2190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11D30"/>
          </a:solidFill>
          <a:ln xmlns:a="http://schemas.openxmlformats.org/drawingml/2006/main" w="9525">
            <a:solidFill>
              <a:srgbClr val="8B5CF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A93001-5AFC-4406-875B-DCF21A294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114675"/>
            <a:ext cx="1771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B5CF6"/>
                </a:solidFill>
              </a:defRPr>
            </a:pPr>
            <a:r>
              <a:rPr sz="975" b="1">
                <a:solidFill>
                  <a:srgbClr val="8B5CF6"/>
                </a:solidFill>
              </a:rPr>
              <a:t>Local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D4CA97-BFEA-4784-926E-BA24D4997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19500"/>
            <a:ext cx="2190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11D30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75DB01-0CD2-4A74-8F22-0DED69638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724275"/>
            <a:ext cx="1771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4D399"/>
                </a:solidFill>
              </a:defRPr>
            </a:pPr>
            <a:r>
              <a:rPr sz="975" b="1">
                <a:solidFill>
                  <a:srgbClr val="34D399"/>
                </a:solidFill>
              </a:rPr>
              <a:t>Export</a:t>
            </a:r>
          </a:p>
        </p:txBody>
      </p:sp>
    </p:spTree>
    <p:extLst>
      <p:ext uri="{BB962C8B-B14F-4D97-AF65-F5344CB8AC3E}">
        <p14:creationId xmlns:p14="http://schemas.microsoft.com/office/powerpoint/2010/main" val="2921008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2612E1-1CA2-4A87-8BC0-97FA3EDE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2"/>
          </a:solidFill>
          <a:ln xmlns:a="http://schemas.openxmlformats.org/drawingml/2006/main" w="0">
            <a:solidFill>
              <a:srgbClr val="070B1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5D8801-05EB-4CE2-83A9-7BBB138C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D"/>
          </a:solidFill>
          <a:ln xmlns:a="http://schemas.openxmlformats.org/drawingml/2006/main" w="0">
            <a:solidFill>
              <a:srgbClr val="0B111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E5DE49-C7AA-43C2-A5E2-9B133077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15F"/>
          </a:solidFill>
          <a:ln xmlns:a="http://schemas.openxmlformats.org/drawingml/2006/main" w="0">
            <a:solidFill>
              <a:srgbClr val="2741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C2D129-AAE6-41E8-995E-8A25D766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F2FF"/>
                </a:solidFill>
              </a:defRPr>
            </a:pPr>
            <a:r>
              <a:rPr sz="1275" b="1">
                <a:solidFill>
                  <a:srgbClr val="EAF2FF"/>
                </a:solidFill>
              </a:rPr>
              <a:t>Audion Voice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E018B0-4679-495B-9663-D957F331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86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FB0C3"/>
                </a:solidFill>
              </a:defRPr>
            </a:pPr>
            <a:r>
              <a:rPr sz="825" b="1">
                <a:solidFill>
                  <a:srgbClr val="9FB0C3"/>
                </a:solidFill>
              </a:rPr>
              <a:t>PRODUCT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38662B-14A8-41AD-9663-989B8FFF4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436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5708E"/>
                </a:solidFill>
              </a:defRPr>
            </a:pPr>
            <a:r>
              <a:rPr sz="750" b="0">
                <a:solidFill>
                  <a:srgbClr val="55708E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CC0C0D-6016-4C68-AF62-0FF56273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5708E"/>
                </a:solidFill>
              </a:defRPr>
            </a:pPr>
            <a:r>
              <a:rPr sz="713" b="0">
                <a:solidFill>
                  <a:srgbClr val="55708E"/>
                </a:solidFill>
              </a:rPr>
              <a:t>Audion Voice AI overview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6DE0A1-CCDB-4821-BAE0-454C841FF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AF2FF"/>
                </a:solidFill>
              </a:defRPr>
            </a:pPr>
            <a:r>
              <a:rPr sz="2400" b="1">
                <a:solidFill>
                  <a:srgbClr val="EAF2FF"/>
                </a:solidFill>
              </a:rPr>
              <a:t>Приложение закрывает хаос между сырым аудио и полезной заметкой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F333D4-8F89-4DE3-B945-7AEBCC830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7825"/>
            <a:ext cx="838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D7E8"/>
          </a:solidFill>
          <a:ln xmlns:a="http://schemas.openxmlformats.org/drawingml/2006/main" w="0">
            <a:solidFill>
              <a:srgbClr val="24D7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C09C41-F107-4D31-9121-3F642209C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42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9FB0C3"/>
                </a:solidFill>
              </a:defRPr>
            </a:pPr>
            <a:r>
              <a:rPr sz="1163" b="0">
                <a:solidFill>
                  <a:srgbClr val="9FB0C3"/>
                </a:solidFill>
              </a:rPr>
              <a:t>Это не кнопка «расшифровать», а повторяемая STT-операция с очередью, настройками и проверяемым результатом.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E77558-4AC1-470D-9D4D-21F0F697D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3276600" cy="201930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10478">
            <a:solidFill>
              <a:srgbClr val="24D7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4BB4B1-69F1-415A-B6C7-4CA871708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4D7E8"/>
          </a:solidFill>
          <a:ln xmlns:a="http://schemas.openxmlformats.org/drawingml/2006/main" w="0">
            <a:solidFill>
              <a:srgbClr val="24D7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0F1927-B1E3-4FF9-9BEC-EFCBADB4F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67025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2FF"/>
                </a:solidFill>
              </a:defRPr>
            </a:pPr>
            <a:r>
              <a:rPr sz="1350" b="1">
                <a:solidFill>
                  <a:srgbClr val="EAF2FF"/>
                </a:solidFill>
              </a:rPr>
              <a:t>Длинные записи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6D3526-877E-44BC-90E5-A814A26A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28194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9FB0C3"/>
                </a:solidFill>
              </a:defRPr>
            </a:pPr>
            <a:r>
              <a:rPr sz="1065" b="0">
                <a:solidFill>
                  <a:srgbClr val="9FB0C3"/>
                </a:solidFill>
              </a:rPr>
              <a:t>Очередь, FFmpeg ingest, сохранение рядом с исходником и retry делают большие задачи управляемыми.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D9D1B7-F96E-450C-89B6-8B3A1415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67000"/>
            <a:ext cx="3276600" cy="201930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10478">
            <a:solidFill>
              <a:srgbClr val="2E8A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D6E0AE-C407-4F78-ABEC-65C4C46E4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575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E8AF7"/>
          </a:solidFill>
          <a:ln xmlns:a="http://schemas.openxmlformats.org/drawingml/2006/main" w="0">
            <a:solidFill>
              <a:srgbClr val="2E8AF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2A1A15-7454-48E2-91E5-2981C6549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867025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2FF"/>
                </a:solidFill>
              </a:defRPr>
            </a:pPr>
            <a:r>
              <a:rPr sz="1350" b="1">
                <a:solidFill>
                  <a:srgbClr val="EAF2FF"/>
                </a:solidFill>
              </a:rPr>
              <a:t>Live-захват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AE9394-E0C9-4004-BF1D-F68343CC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33750"/>
            <a:ext cx="28194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9FB0C3"/>
                </a:solidFill>
              </a:defRPr>
            </a:pPr>
            <a:r>
              <a:rPr sz="1065" b="0">
                <a:solidFill>
                  <a:srgbClr val="9FB0C3"/>
                </a:solidFill>
              </a:rPr>
              <a:t>Push-to-talk, overlay partials, чистка Live и tray-действия делают диктовку ежедневным инструментом.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0C45CE-1BF4-4B05-8EC2-F251591D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67000"/>
            <a:ext cx="3276600" cy="201930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10478">
            <a:solidFill>
              <a:srgbClr val="8B5CF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D042A6-9C30-47D2-9CDD-561A85F71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575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19A46C-0173-4170-A966-D06878FD8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67025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2FF"/>
                </a:solidFill>
              </a:defRPr>
            </a:pPr>
            <a:r>
              <a:rPr sz="1350" b="1">
                <a:solidFill>
                  <a:srgbClr val="EAF2FF"/>
                </a:solidFill>
              </a:rPr>
              <a:t>Portable-установка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6D6A71-5BD4-4E40-94BE-12C238D20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33750"/>
            <a:ext cx="28194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9FB0C3"/>
                </a:solidFill>
              </a:defRPr>
            </a:pPr>
            <a:r>
              <a:rPr sz="1065" b="0">
                <a:solidFill>
                  <a:srgbClr val="9FB0C3"/>
                </a:solidFill>
              </a:rPr>
              <a:t>Runtime, tools, модели и wheel-кэши ставятся видимыми слоями и воспроизводятся заново.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0A509E-FB8E-4BA6-9CA9-284CB60A1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86375"/>
            <a:ext cx="97917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11D30"/>
          </a:solidFill>
          <a:ln xmlns:a="http://schemas.openxmlformats.org/drawingml/2006/main" w="9525">
            <a:solidFill>
              <a:srgbClr val="24D7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A216B2-70C7-4318-9F59-60CFCA14D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457825"/>
            <a:ext cx="918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AF2FF"/>
                </a:solidFill>
              </a:defRPr>
            </a:pPr>
            <a:r>
              <a:rPr sz="1125" b="1">
                <a:solidFill>
                  <a:srgbClr val="EAF2FF"/>
                </a:solidFill>
              </a:rPr>
              <a:t>Главная идея: UI показывает рабочий процесс, а installer делает каждый backend воспроизводимым.</a:t>
            </a:r>
          </a:p>
        </p:txBody>
      </p:sp>
    </p:spTree>
    <p:extLst>
      <p:ext uri="{BB962C8B-B14F-4D97-AF65-F5344CB8AC3E}">
        <p14:creationId xmlns:p14="http://schemas.microsoft.com/office/powerpoint/2010/main" val="6612614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72D6E6-025F-4C47-BE1D-5F9B28636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2"/>
          </a:solidFill>
          <a:ln xmlns:a="http://schemas.openxmlformats.org/drawingml/2006/main" w="0">
            <a:solidFill>
              <a:srgbClr val="070B1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47E737-1DCE-442A-86DC-1B95C0128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D"/>
          </a:solidFill>
          <a:ln xmlns:a="http://schemas.openxmlformats.org/drawingml/2006/main" w="0">
            <a:solidFill>
              <a:srgbClr val="0B111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B57BB3-9C1D-45F5-B708-7FD53D0B0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15F"/>
          </a:solidFill>
          <a:ln xmlns:a="http://schemas.openxmlformats.org/drawingml/2006/main" w="0">
            <a:solidFill>
              <a:srgbClr val="2741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46EF8F-D860-4007-BA12-02E8BEF5E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F2FF"/>
                </a:solidFill>
              </a:defRPr>
            </a:pPr>
            <a:r>
              <a:rPr sz="1275" b="1">
                <a:solidFill>
                  <a:srgbClr val="EAF2FF"/>
                </a:solidFill>
              </a:rPr>
              <a:t>Audion Voice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7B4740-3B7A-4022-97D6-D5FBB0775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86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FB0C3"/>
                </a:solidFill>
              </a:defRPr>
            </a:pPr>
            <a:r>
              <a:rPr sz="825" b="1">
                <a:solidFill>
                  <a:srgbClr val="9FB0C3"/>
                </a:solidFill>
              </a:rPr>
              <a:t>PRODUCT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C31CA0-967D-4636-BAAA-17A6B6BDE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436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5708E"/>
                </a:solidFill>
              </a:defRPr>
            </a:pPr>
            <a:r>
              <a:rPr sz="750" b="0">
                <a:solidFill>
                  <a:srgbClr val="55708E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22B7CC-62AA-4443-BD95-C6DE84715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5708E"/>
                </a:solidFill>
              </a:defRPr>
            </a:pPr>
            <a:r>
              <a:rPr sz="713" b="0">
                <a:solidFill>
                  <a:srgbClr val="55708E"/>
                </a:solidFill>
              </a:rPr>
              <a:t>Audion Voice AI overview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E90F2C-56C7-4C80-9E54-708440115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EAF2FF"/>
                </a:solidFill>
              </a:defRPr>
            </a:pPr>
            <a:r>
              <a:rPr sz="2175" b="1">
                <a:solidFill>
                  <a:srgbClr val="EAF2FF"/>
                </a:solidFill>
              </a:rPr>
              <a:t>Два издания разделяют ноутбук и CUDA-станцию без смешивания тяжёлых слоёв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9A79AC-6FCD-4B99-9FC3-12F4C33A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7825"/>
            <a:ext cx="838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D7E8"/>
          </a:solidFill>
          <a:ln xmlns:a="http://schemas.openxmlformats.org/drawingml/2006/main" w="0">
            <a:solidFill>
              <a:srgbClr val="24D7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4A15A0-C507-4ECE-961B-3C96CAB10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42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9FB0C3"/>
                </a:solidFill>
              </a:defRPr>
            </a:pPr>
            <a:r>
              <a:rPr sz="1163" b="0">
                <a:solidFill>
                  <a:srgbClr val="9FB0C3"/>
                </a:solidFill>
              </a:rPr>
              <a:t>Live остаётся компактным, Studio добавляет тяжёлое локальное ускорение для рабочих станций.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102111-AD9C-4DD9-8C41-679A4A56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47625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10478">
            <a:solidFill>
              <a:srgbClr val="24D7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18CE9A-1873-4D9E-A750-E7BF4D53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194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4D7E8"/>
          </a:solidFill>
          <a:ln xmlns:a="http://schemas.openxmlformats.org/drawingml/2006/main" w="0">
            <a:solidFill>
              <a:srgbClr val="24D7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46406F-4D7D-4526-983E-4C1CA1C27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828925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2FF"/>
                </a:solidFill>
              </a:defRPr>
            </a:pPr>
            <a:r>
              <a:rPr sz="1350" b="1">
                <a:solidFill>
                  <a:srgbClr val="EAF2FF"/>
                </a:solidFill>
              </a:rPr>
              <a:t>Voice AI Live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9B0852-7BFB-417A-92DE-189CF721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95650"/>
            <a:ext cx="43053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F44F3E-D4E5-4704-8E51-176548341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28900"/>
            <a:ext cx="47625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10478">
            <a:solidFill>
              <a:srgbClr val="8B5CF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F61599-C4FB-4115-A005-6E803900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194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1EE789-964B-4732-9BDA-228F63E98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28925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2FF"/>
                </a:solidFill>
              </a:defRPr>
            </a:pPr>
            <a:r>
              <a:rPr sz="1350" b="1">
                <a:solidFill>
                  <a:srgbClr val="EAF2FF"/>
                </a:solidFill>
              </a:rPr>
              <a:t>Voice AI Studio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0390B8-0E60-4103-BF5B-2CC33B58B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95650"/>
            <a:ext cx="43053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A999A0-C43A-4B5A-B4C6-FAF027E64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81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D7E8"/>
          </a:solidFill>
          <a:ln xmlns:a="http://schemas.openxmlformats.org/drawingml/2006/main" w="0">
            <a:solidFill>
              <a:srgbClr val="24D7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0C4D96-64E1-4621-8D0B-8749CCB53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524250"/>
            <a:ext cx="3771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EAF2FF"/>
                </a:solidFill>
              </a:defRPr>
            </a:pPr>
            <a:r>
              <a:rPr sz="1080" b="0">
                <a:solidFill>
                  <a:srgbClr val="EAF2FF"/>
                </a:solidFill>
              </a:rPr>
              <a:t>OpenAI, xAI, ElevenLabs Live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1B81DE-3927-4CCA-ABF2-52A744822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05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D7E8"/>
          </a:solidFill>
          <a:ln xmlns:a="http://schemas.openxmlformats.org/drawingml/2006/main" w="0">
            <a:solidFill>
              <a:srgbClr val="24D7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9EABAB-471A-4B99-A1DF-7142B9D6F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48100"/>
            <a:ext cx="3771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EAF2FF"/>
                </a:solidFill>
              </a:defRPr>
            </a:pPr>
            <a:r>
              <a:rPr sz="1080" b="0">
                <a:solidFill>
                  <a:srgbClr val="EAF2FF"/>
                </a:solidFill>
              </a:rPr>
              <a:t>GigaAM и whisper.cpp local modes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A20449-1BD6-4C00-BCC7-9A37C1E6E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291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D7E8"/>
          </a:solidFill>
          <a:ln xmlns:a="http://schemas.openxmlformats.org/drawingml/2006/main" w="0">
            <a:solidFill>
              <a:srgbClr val="24D7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12B217-B17A-4C1E-8A98-CB47EBAE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71950"/>
            <a:ext cx="3771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EAF2FF"/>
                </a:solidFill>
              </a:defRPr>
            </a:pPr>
            <a:r>
              <a:rPr sz="1080" b="0">
                <a:solidFill>
                  <a:srgbClr val="EAF2FF"/>
                </a:solidFill>
              </a:rPr>
              <a:t>DirectML или CPU fallback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D1E78C-7F11-4442-8636-CF97F3E9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529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D7E8"/>
          </a:solidFill>
          <a:ln xmlns:a="http://schemas.openxmlformats.org/drawingml/2006/main" w="0">
            <a:solidFill>
              <a:srgbClr val="24D7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E1BDBE-A89B-48DA-AE6E-FB3B1141E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95800"/>
            <a:ext cx="3771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EAF2FF"/>
                </a:solidFill>
              </a:defRPr>
            </a:pPr>
            <a:r>
              <a:rPr sz="1080" b="0">
                <a:solidFill>
                  <a:srgbClr val="EAF2FF"/>
                </a:solidFill>
              </a:rPr>
              <a:t>Небольшой размер для обычных машин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3A3C67-EE61-4E37-87BA-D5FF5755F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5814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3F2FCE-0C33-49CD-B39D-ECAC02B59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524250"/>
            <a:ext cx="3771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EAF2FF"/>
                </a:solidFill>
              </a:defRPr>
            </a:pPr>
            <a:r>
              <a:rPr sz="1080" b="0">
                <a:solidFill>
                  <a:srgbClr val="EAF2FF"/>
                </a:solidFill>
              </a:rPr>
              <a:t>Всё из Live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34B43E-7668-4B7F-94B8-DC00701E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9052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284CF0C-5055-43A9-B4F8-7E46D3EBE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48100"/>
            <a:ext cx="3771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EAF2FF"/>
                </a:solidFill>
              </a:defRPr>
            </a:pPr>
            <a:r>
              <a:rPr sz="1080" b="0">
                <a:solidFill>
                  <a:srgbClr val="EAF2FF"/>
                </a:solidFill>
              </a:rPr>
              <a:t>CUDA / TensorRT путь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9F6194-5A80-4895-AA02-692E2738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291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B4A9DD-5E53-4DD2-95D9-B12E27622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171950"/>
            <a:ext cx="3771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EAF2FF"/>
                </a:solidFill>
              </a:defRPr>
            </a:pPr>
            <a:r>
              <a:rPr sz="1080" b="0">
                <a:solidFill>
                  <a:srgbClr val="EAF2FF"/>
                </a:solidFill>
              </a:rPr>
              <a:t>faster-whisper large models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A0359C-9F01-4495-9DFB-A652990C6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55295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15304C-3C2C-4A49-AE34-16E5EEBCB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495800"/>
            <a:ext cx="3771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0" b="0">
                <a:solidFill>
                  <a:srgbClr val="EAF2FF"/>
                </a:solidFill>
              </a:defRPr>
            </a:pPr>
            <a:r>
              <a:rPr sz="1080" b="0">
                <a:solidFill>
                  <a:srgbClr val="EAF2FF"/>
                </a:solidFill>
              </a:rPr>
              <a:t>GPU diarization через pyannote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66F2C21-8258-44CC-B7BA-45B71102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562600"/>
            <a:ext cx="89154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111D30"/>
          </a:solidFill>
          <a:ln xmlns:a="http://schemas.openxmlformats.org/drawingml/2006/main" w="9525">
            <a:solidFill>
              <a:srgbClr val="2E8A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36C0CCA-5F49-4296-8EF9-B75997BC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7150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8AF7"/>
                </a:solidFill>
              </a:defRPr>
            </a:pPr>
            <a:r>
              <a:rPr sz="1050" b="1">
                <a:solidFill>
                  <a:srgbClr val="2E8AF7"/>
                </a:solidFill>
              </a:rPr>
              <a:t>Правило продукта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4CF9420-A0F5-4D5D-BAD2-04C5A9D53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705475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EAF2FF"/>
                </a:solidFill>
              </a:defRPr>
            </a:pPr>
            <a:r>
              <a:rPr sz="1088" b="1">
                <a:solidFill>
                  <a:srgbClr val="EAF2FF"/>
                </a:solidFill>
              </a:rPr>
              <a:t>Live — основное приложение; Studio — workstation-расширение.</a:t>
            </a:r>
          </a:p>
        </p:txBody>
      </p:sp>
    </p:spTree>
    <p:extLst>
      <p:ext uri="{BB962C8B-B14F-4D97-AF65-F5344CB8AC3E}">
        <p14:creationId xmlns:p14="http://schemas.microsoft.com/office/powerpoint/2010/main" val="18144600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EAD37D-E457-4135-B26E-3E016B9D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2"/>
          </a:solidFill>
          <a:ln xmlns:a="http://schemas.openxmlformats.org/drawingml/2006/main" w="0">
            <a:solidFill>
              <a:srgbClr val="070B1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5E2C19-6FB1-4458-A6CF-4A9E501BC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D"/>
          </a:solidFill>
          <a:ln xmlns:a="http://schemas.openxmlformats.org/drawingml/2006/main" w="0">
            <a:solidFill>
              <a:srgbClr val="0B111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7B864E-5DD9-4DEF-ACFC-E3B701F8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15F"/>
          </a:solidFill>
          <a:ln xmlns:a="http://schemas.openxmlformats.org/drawingml/2006/main" w="0">
            <a:solidFill>
              <a:srgbClr val="2741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3F198B-96F1-439A-AFFF-97E202FF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F2FF"/>
                </a:solidFill>
              </a:defRPr>
            </a:pPr>
            <a:r>
              <a:rPr sz="1275" b="1">
                <a:solidFill>
                  <a:srgbClr val="EAF2FF"/>
                </a:solidFill>
              </a:rPr>
              <a:t>Audion Voice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02AD60-8551-4D20-95C2-55518181E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86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FB0C3"/>
                </a:solidFill>
              </a:defRPr>
            </a:pPr>
            <a:r>
              <a:rPr sz="825" b="1">
                <a:solidFill>
                  <a:srgbClr val="9FB0C3"/>
                </a:solidFill>
              </a:rPr>
              <a:t>PRODUCT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5522AF-5054-471A-813E-151FA2ED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436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5708E"/>
                </a:solidFill>
              </a:defRPr>
            </a:pPr>
            <a:r>
              <a:rPr sz="750" b="0">
                <a:solidFill>
                  <a:srgbClr val="55708E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E485DD-F8EB-4880-ADD3-4092BB179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5708E"/>
                </a:solidFill>
              </a:defRPr>
            </a:pPr>
            <a:r>
              <a:rPr sz="713" b="0">
                <a:solidFill>
                  <a:srgbClr val="55708E"/>
                </a:solidFill>
              </a:rPr>
              <a:t>Audion Voice AI overview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1F873F-BB61-4AC9-8CD9-99A80FA14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EAF2FF"/>
                </a:solidFill>
              </a:defRPr>
            </a:pPr>
            <a:r>
              <a:rPr sz="2175" b="1">
                <a:solidFill>
                  <a:srgbClr val="EAF2FF"/>
                </a:solidFill>
              </a:rPr>
              <a:t>Интерфейс собран вокруг задач, которые пользователь повторяет каждый день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EBDDC8-829B-41C4-9D09-2BA7C317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7825"/>
            <a:ext cx="838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D7E8"/>
          </a:solidFill>
          <a:ln xmlns:a="http://schemas.openxmlformats.org/drawingml/2006/main" w="0">
            <a:solidFill>
              <a:srgbClr val="24D7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56DF16-7474-4B16-A421-F3F319617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42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9FB0C3"/>
                </a:solidFill>
              </a:defRPr>
            </a:pPr>
            <a:r>
              <a:rPr sz="1163" b="0">
                <a:solidFill>
                  <a:srgbClr val="9FB0C3"/>
                </a:solidFill>
              </a:rPr>
              <a:t>Табы уменьшают скролл и удерживают compute, setup и export-решения на виду без простыни контролов.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CBDEC6-1490-4454-A380-A74CFDBA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2190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10478">
            <a:solidFill>
              <a:srgbClr val="24D7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41E4AF-C9D9-4C22-B9C9-90A35C192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4D7E8"/>
          </a:solidFill>
          <a:ln xmlns:a="http://schemas.openxmlformats.org/drawingml/2006/main" w="0">
            <a:solidFill>
              <a:srgbClr val="24D7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AC555D-6935-40E6-A5DC-2E6A9BCED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2289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2FF"/>
                </a:solidFill>
              </a:defRPr>
            </a:pPr>
            <a:r>
              <a:rPr sz="1350" b="1">
                <a:solidFill>
                  <a:srgbClr val="EAF2FF"/>
                </a:solidFill>
              </a:rPr>
              <a:t>Live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79E61B-D85F-44B0-8113-73B51B6F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95700"/>
            <a:ext cx="1733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9FB0C3"/>
                </a:solidFill>
              </a:defRPr>
            </a:pPr>
            <a:r>
              <a:rPr sz="1065" b="0">
                <a:solidFill>
                  <a:srgbClr val="9FB0C3"/>
                </a:solidFill>
              </a:rPr>
              <a:t>Диктовка, API/local source, overlay, чистка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C56FBF-C6D9-41BE-B78C-935AD7B2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81000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5A7C"/>
          </a:solidFill>
          <a:ln xmlns:a="http://schemas.openxmlformats.org/drawingml/2006/main" w="0">
            <a:solidFill>
              <a:srgbClr val="385A7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09A96C-5F83-4D5B-9986-E6CEA709A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714750"/>
            <a:ext cx="171450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85A7C"/>
          </a:solidFill>
          <a:ln xmlns:a="http://schemas.openxmlformats.org/drawingml/2006/main" w="0">
            <a:solidFill>
              <a:srgbClr val="385A7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B9C93E-2E85-4C21-B7B7-531B8A3A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28950"/>
            <a:ext cx="2190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10478">
            <a:solidFill>
              <a:srgbClr val="2E8A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22CC71-4F8C-42F9-A8DF-6ED805C12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194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E8AF7"/>
          </a:solidFill>
          <a:ln xmlns:a="http://schemas.openxmlformats.org/drawingml/2006/main" w="0">
            <a:solidFill>
              <a:srgbClr val="2E8AF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B2A76F-2B8A-4D44-B76F-D8982F0FB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289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2FF"/>
                </a:solidFill>
              </a:defRPr>
            </a:pPr>
            <a:r>
              <a:rPr sz="1350" b="1">
                <a:solidFill>
                  <a:srgbClr val="EAF2FF"/>
                </a:solidFill>
              </a:rPr>
              <a:t>Операции с файлами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6F5DD7-0EAF-42E2-94AA-D21178893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695700"/>
            <a:ext cx="1733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9FB0C3"/>
                </a:solidFill>
              </a:defRPr>
            </a:pPr>
            <a:r>
              <a:rPr sz="1065" b="0">
                <a:solidFill>
                  <a:srgbClr val="9FB0C3"/>
                </a:solidFill>
              </a:rPr>
              <a:t>Очередь, движок, язык, post-processing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794465-8E81-47DC-8472-DCC0E16E6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1000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5A7C"/>
          </a:solidFill>
          <a:ln xmlns:a="http://schemas.openxmlformats.org/drawingml/2006/main" w="0">
            <a:solidFill>
              <a:srgbClr val="385A7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F5C19D-3277-4936-A73D-067DA446E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14750"/>
            <a:ext cx="171450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85A7C"/>
          </a:solidFill>
          <a:ln xmlns:a="http://schemas.openxmlformats.org/drawingml/2006/main" w="0">
            <a:solidFill>
              <a:srgbClr val="385A7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1EFBEF-33CD-48D9-8E15-64F2C99B5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28950"/>
            <a:ext cx="2190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10478">
            <a:solidFill>
              <a:srgbClr val="8B5CF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44A76C-0E02-4495-B24B-7E52E215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194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F39885-95D6-458B-B798-3877CF0B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289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2FF"/>
                </a:solidFill>
              </a:defRPr>
            </a:pPr>
            <a:r>
              <a:rPr sz="1350" b="1">
                <a:solidFill>
                  <a:srgbClr val="EAF2FF"/>
                </a:solidFill>
              </a:rPr>
              <a:t>Настройки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084A41-4257-49FF-91DF-725CB00B8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95700"/>
            <a:ext cx="1733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9FB0C3"/>
                </a:solidFill>
              </a:defRPr>
            </a:pPr>
            <a:r>
              <a:rPr sz="1065" b="0">
                <a:solidFill>
                  <a:srgbClr val="9FB0C3"/>
                </a:solidFill>
              </a:rPr>
              <a:t>Тема, форматы, субтитры, tray behavior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840E83-CC45-4869-A7ED-664F1AF70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81000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5A7C"/>
          </a:solidFill>
          <a:ln xmlns:a="http://schemas.openxmlformats.org/drawingml/2006/main" w="0">
            <a:solidFill>
              <a:srgbClr val="385A7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84DBC3-5458-4231-9FB3-02BBAA6C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714750"/>
            <a:ext cx="171450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85A7C"/>
          </a:solidFill>
          <a:ln xmlns:a="http://schemas.openxmlformats.org/drawingml/2006/main" w="0">
            <a:solidFill>
              <a:srgbClr val="385A7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214602-89E8-4BC1-BF73-9684B5387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28950"/>
            <a:ext cx="2190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10478">
            <a:solidFill>
              <a:srgbClr val="34D39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BCCF07-193E-4880-BF2C-543B99E71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194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34D39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8FCA25-7FD6-452D-BCC7-2F795B81D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2289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2FF"/>
                </a:solidFill>
              </a:defRPr>
            </a:pPr>
            <a:r>
              <a:rPr sz="1350" b="1">
                <a:solidFill>
                  <a:srgbClr val="EAF2FF"/>
                </a:solidFill>
              </a:rPr>
              <a:t>Установки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05A797-65B6-4AAB-B002-F3AFFBE68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695700"/>
            <a:ext cx="1733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9FB0C3"/>
                </a:solidFill>
              </a:defRPr>
            </a:pPr>
            <a:r>
              <a:rPr sz="1065" b="0">
                <a:solidFill>
                  <a:srgbClr val="9FB0C3"/>
                </a:solidFill>
              </a:rPr>
              <a:t>Модули, ключи, прогресс, диагностика</a:t>
            </a:r>
          </a:p>
        </p:txBody>
      </p:sp>
    </p:spTree>
    <p:extLst>
      <p:ext uri="{BB962C8B-B14F-4D97-AF65-F5344CB8AC3E}">
        <p14:creationId xmlns:p14="http://schemas.microsoft.com/office/powerpoint/2010/main" val="9770997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DA582A-7D12-4134-9F1F-24169C80D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2"/>
          </a:solidFill>
          <a:ln xmlns:a="http://schemas.openxmlformats.org/drawingml/2006/main" w="0">
            <a:solidFill>
              <a:srgbClr val="070B1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ABB0FA-2822-4F6D-821A-775469BDC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D"/>
          </a:solidFill>
          <a:ln xmlns:a="http://schemas.openxmlformats.org/drawingml/2006/main" w="0">
            <a:solidFill>
              <a:srgbClr val="0B111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42A727-469B-49C2-8B7E-CEBA2DF32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15F"/>
          </a:solidFill>
          <a:ln xmlns:a="http://schemas.openxmlformats.org/drawingml/2006/main" w="0">
            <a:solidFill>
              <a:srgbClr val="2741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BFA48A-B4E0-43CF-A3A3-D540CD2DF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F2FF"/>
                </a:solidFill>
              </a:defRPr>
            </a:pPr>
            <a:r>
              <a:rPr sz="1275" b="1">
                <a:solidFill>
                  <a:srgbClr val="EAF2FF"/>
                </a:solidFill>
              </a:rPr>
              <a:t>Audion Voice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A8F7FB-C31F-4B9B-869B-F16D491BD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86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FB0C3"/>
                </a:solidFill>
              </a:defRPr>
            </a:pPr>
            <a:r>
              <a:rPr sz="825" b="1">
                <a:solidFill>
                  <a:srgbClr val="9FB0C3"/>
                </a:solidFill>
              </a:rPr>
              <a:t>PRODUCT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DF2289-0108-4D9E-8C75-87E821D78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436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5708E"/>
                </a:solidFill>
              </a:defRPr>
            </a:pPr>
            <a:r>
              <a:rPr sz="750" b="0">
                <a:solidFill>
                  <a:srgbClr val="55708E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C93902-62F8-4CC7-8770-914A7DBA6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5708E"/>
                </a:solidFill>
              </a:defRPr>
            </a:pPr>
            <a:r>
              <a:rPr sz="713" b="0">
                <a:solidFill>
                  <a:srgbClr val="55708E"/>
                </a:solidFill>
              </a:rPr>
              <a:t>Audion Voice AI overview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9C4EC8-9C20-4D14-8CAF-77F70B5E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AF2FF"/>
                </a:solidFill>
              </a:defRPr>
            </a:pPr>
            <a:r>
              <a:rPr sz="2400" b="1">
                <a:solidFill>
                  <a:srgbClr val="EAF2FF"/>
                </a:solidFill>
              </a:rPr>
              <a:t>Модели сгруппированы по намерению, а не по сырому каталогу провайдеров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FF2495-EBF3-4958-AD67-3FFDE08B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7825"/>
            <a:ext cx="838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D7E8"/>
          </a:solidFill>
          <a:ln xmlns:a="http://schemas.openxmlformats.org/drawingml/2006/main" w="0">
            <a:solidFill>
              <a:srgbClr val="24D7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975A33-3D9F-46CD-ABE3-1B8857835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42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9FB0C3"/>
                </a:solidFill>
              </a:defRPr>
            </a:pPr>
            <a:r>
              <a:rPr sz="1163" b="0">
                <a:solidFill>
                  <a:srgbClr val="9FB0C3"/>
                </a:solidFill>
              </a:rPr>
              <a:t>Сначала выбирается задача: API models для скорости, Local Models для приватности и длинных записей, CUDA для Studio throughput.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C61D93-77F9-4E31-8EA5-3C366D57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30861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11430">
            <a:solidFill>
              <a:srgbClr val="24D7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CF4353-6AEB-4038-9C2D-9762778D0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48000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D7E8"/>
                </a:solidFill>
              </a:defRPr>
            </a:pPr>
            <a:r>
              <a:rPr sz="1500" b="1">
                <a:solidFill>
                  <a:srgbClr val="24D7E8"/>
                </a:solidFill>
              </a:rPr>
              <a:t>API models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4C5F8F-9AFF-4CC0-83BF-099DC790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8140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AF2FF"/>
                </a:solidFill>
              </a:defRPr>
            </a:pPr>
            <a:r>
              <a:rPr sz="1200" b="1">
                <a:solidFill>
                  <a:srgbClr val="EAF2FF"/>
                </a:solidFill>
              </a:rPr>
              <a:t>OpenAI profiles, xAI Realtime, ElevenLabs Realtime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85D1F8-0217-41B3-A4D0-1E261E2DF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19600"/>
            <a:ext cx="2552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05" b="0">
                <a:solidFill>
                  <a:srgbClr val="9FB0C3"/>
                </a:solidFill>
              </a:defRPr>
            </a:pPr>
            <a:r>
              <a:rPr sz="1005" b="0">
                <a:solidFill>
                  <a:srgbClr val="9FB0C3"/>
                </a:solidFill>
              </a:rPr>
              <a:t>Фиксированные Live-выборы уменьшают риск ошибки.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2AC2F6-F8BB-4C10-9F2B-BB8CC677B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81300"/>
            <a:ext cx="30861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11430">
            <a:solidFill>
              <a:srgbClr val="2E8A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941048-EE6F-45A9-9BA0-F9EEE8540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48000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E8AF7"/>
                </a:solidFill>
              </a:defRPr>
            </a:pPr>
            <a:r>
              <a:rPr sz="1500" b="1">
                <a:solidFill>
                  <a:srgbClr val="2E8AF7"/>
                </a:solidFill>
              </a:rPr>
              <a:t>Local Models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8F4486-6E00-4385-AEFF-0F638F038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8140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AF2FF"/>
                </a:solidFill>
              </a:defRPr>
            </a:pPr>
            <a:r>
              <a:rPr sz="1200" b="1">
                <a:solidFill>
                  <a:srgbClr val="EAF2FF"/>
                </a:solidFill>
              </a:rPr>
              <a:t>GigaAM ONNX и whisper.cpp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4BD37D-64A5-4C27-8B2E-F1801989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419600"/>
            <a:ext cx="2552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05" b="0">
                <a:solidFill>
                  <a:srgbClr val="9FB0C3"/>
                </a:solidFill>
              </a:defRPr>
            </a:pPr>
            <a:r>
              <a:rPr sz="1005" b="0">
                <a:solidFill>
                  <a:srgbClr val="9FB0C3"/>
                </a:solidFill>
              </a:rPr>
              <a:t>DirectML — лёгкий Windows backend по умолчанию.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25F0C1-EC56-476B-912C-39AC987BF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81300"/>
            <a:ext cx="30861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11430">
            <a:solidFill>
              <a:srgbClr val="8B5CF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F5B78D-D8B5-4F91-93A1-496F74CC7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48000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8B5CF6"/>
                </a:solidFill>
              </a:defRPr>
            </a:pPr>
            <a:r>
              <a:rPr sz="1500" b="1">
                <a:solidFill>
                  <a:srgbClr val="8B5CF6"/>
                </a:solidFill>
              </a:rPr>
              <a:t>CUDA / TensorRT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AB1483-B3D2-45A3-BADA-5C32F682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81400"/>
            <a:ext cx="259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EAF2FF"/>
                </a:solidFill>
              </a:defRPr>
            </a:pPr>
            <a:r>
              <a:rPr sz="1200" b="1">
                <a:solidFill>
                  <a:srgbClr val="EAF2FF"/>
                </a:solidFill>
              </a:rPr>
              <a:t>Studio-only faster-whisper и pyannote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59A4A5-3C50-42FB-A2EE-8BC0B271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419600"/>
            <a:ext cx="2552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05" b="0">
                <a:solidFill>
                  <a:srgbClr val="9FB0C3"/>
                </a:solidFill>
              </a:defRPr>
            </a:pPr>
            <a:r>
              <a:rPr sz="1005" b="0">
                <a:solidFill>
                  <a:srgbClr val="9FB0C3"/>
                </a:solidFill>
              </a:rPr>
              <a:t>Путь для RTX-class workstation.</a:t>
            </a:r>
          </a:p>
        </p:txBody>
      </p:sp>
    </p:spTree>
    <p:extLst>
      <p:ext uri="{BB962C8B-B14F-4D97-AF65-F5344CB8AC3E}">
        <p14:creationId xmlns:p14="http://schemas.microsoft.com/office/powerpoint/2010/main" val="15711616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B0908D-00E6-4FFF-9BBA-208197C46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2"/>
          </a:solidFill>
          <a:ln xmlns:a="http://schemas.openxmlformats.org/drawingml/2006/main" w="0">
            <a:solidFill>
              <a:srgbClr val="070B1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414862-A8E2-4F8F-AB93-87BB6F91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D"/>
          </a:solidFill>
          <a:ln xmlns:a="http://schemas.openxmlformats.org/drawingml/2006/main" w="0">
            <a:solidFill>
              <a:srgbClr val="0B111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D063F6-8964-4CD6-BC24-EF5CCB92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15F"/>
          </a:solidFill>
          <a:ln xmlns:a="http://schemas.openxmlformats.org/drawingml/2006/main" w="0">
            <a:solidFill>
              <a:srgbClr val="2741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D8C76C-BB16-4286-BC24-10086903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F2FF"/>
                </a:solidFill>
              </a:defRPr>
            </a:pPr>
            <a:r>
              <a:rPr sz="1275" b="1">
                <a:solidFill>
                  <a:srgbClr val="EAF2FF"/>
                </a:solidFill>
              </a:rPr>
              <a:t>Audion Voice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06E444-F2ED-43C3-8E47-3032888A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86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FB0C3"/>
                </a:solidFill>
              </a:defRPr>
            </a:pPr>
            <a:r>
              <a:rPr sz="825" b="1">
                <a:solidFill>
                  <a:srgbClr val="9FB0C3"/>
                </a:solidFill>
              </a:rPr>
              <a:t>PRODUCT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03C013-A940-4DBC-BBF5-C744E6827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436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5708E"/>
                </a:solidFill>
              </a:defRPr>
            </a:pPr>
            <a:r>
              <a:rPr sz="750" b="0">
                <a:solidFill>
                  <a:srgbClr val="55708E"/>
                </a:solidFill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D5761C-2247-418D-A1BD-F3E425607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5708E"/>
                </a:solidFill>
              </a:defRPr>
            </a:pPr>
            <a:r>
              <a:rPr sz="713" b="0">
                <a:solidFill>
                  <a:srgbClr val="55708E"/>
                </a:solidFill>
              </a:rPr>
              <a:t>Audion Voice AI overview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C72436-03F2-420F-85D0-6F0D55F1C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AF2FF"/>
                </a:solidFill>
              </a:defRPr>
            </a:pPr>
            <a:r>
              <a:rPr sz="2400" b="1">
                <a:solidFill>
                  <a:srgbClr val="EAF2FF"/>
                </a:solidFill>
              </a:rPr>
              <a:t>Установка разделена на слои, поэтому сбой видно сразу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38689B-34BB-4FC0-97D1-082885B58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7825"/>
            <a:ext cx="838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D7E8"/>
          </a:solidFill>
          <a:ln xmlns:a="http://schemas.openxmlformats.org/drawingml/2006/main" w="0">
            <a:solidFill>
              <a:srgbClr val="24D7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2ECCC8-976D-4B26-8AB8-54DC22EB7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42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9FB0C3"/>
                </a:solidFill>
              </a:defRPr>
            </a:pPr>
            <a:r>
              <a:rPr sz="1163" b="0">
                <a:solidFill>
                  <a:srgbClr val="9FB0C3"/>
                </a:solidFill>
              </a:rPr>
              <a:t>Builder и GUI используют одни install-скрипты; обычный пользователь после запуска работает из вкладки Установки.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ABA027-DCC8-4E41-9235-0333235C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1047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9525">
            <a:solidFill>
              <a:srgbClr val="27415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409383-4126-40C6-84DA-ACD9A63D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5758A"/>
                </a:solidFill>
              </a:defRPr>
            </a:pPr>
            <a:r>
              <a:rPr sz="900" b="1">
                <a:solidFill>
                  <a:srgbClr val="65758A"/>
                </a:solidFill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33281F-E7A5-40F1-8D0C-87269E132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71875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EAF2FF"/>
                </a:solidFill>
              </a:defRPr>
            </a:pPr>
            <a:r>
              <a:rPr sz="938" b="1">
                <a:solidFill>
                  <a:srgbClr val="EAF2FF"/>
                </a:solidFill>
              </a:rPr>
              <a:t>Folders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819DAD-D706-42F6-A9DD-FD753D9D6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143250"/>
            <a:ext cx="1047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9525">
            <a:solidFill>
              <a:srgbClr val="27415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3668C1-FB1B-4FD8-AF79-4BCFFA54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29565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5758A"/>
                </a:solidFill>
              </a:defRPr>
            </a:pPr>
            <a:r>
              <a:rPr sz="900" b="1">
                <a:solidFill>
                  <a:srgbClr val="65758A"/>
                </a:solidFill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A427B1-DCC7-449D-8684-C40B0334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571875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EAF2FF"/>
                </a:solidFill>
              </a:defRPr>
            </a:pPr>
            <a:r>
              <a:rPr sz="863" b="1">
                <a:solidFill>
                  <a:srgbClr val="EAF2FF"/>
                </a:solidFill>
              </a:rPr>
              <a:t>Portable Python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8C5921-7CCE-446D-A7C2-499637AD8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43250"/>
            <a:ext cx="1047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9525">
            <a:solidFill>
              <a:srgbClr val="27415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BFEBDC-10D7-4E76-92CA-8FF9E6B17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29565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5758A"/>
                </a:solidFill>
              </a:defRPr>
            </a:pPr>
            <a:r>
              <a:rPr sz="900" b="1">
                <a:solidFill>
                  <a:srgbClr val="65758A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F0CDF6-CF02-40C8-B108-8F57FEFE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571875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EAF2FF"/>
                </a:solidFill>
              </a:defRPr>
            </a:pPr>
            <a:r>
              <a:rPr sz="938" b="1">
                <a:solidFill>
                  <a:srgbClr val="EAF2FF"/>
                </a:solidFill>
              </a:rPr>
              <a:t>FFmpeg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29AE6D-3957-464B-9CC7-FE9F447F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143250"/>
            <a:ext cx="1047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9525">
            <a:solidFill>
              <a:srgbClr val="27415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7380E2-09FC-4012-BCBA-8B4684693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29565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5758A"/>
                </a:solidFill>
              </a:defRPr>
            </a:pPr>
            <a:r>
              <a:rPr sz="900" b="1">
                <a:solidFill>
                  <a:srgbClr val="65758A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1A8F81-C4ED-4F13-AB1F-51CA9B33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571875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EAF2FF"/>
                </a:solidFill>
              </a:defRPr>
            </a:pPr>
            <a:r>
              <a:rPr sz="938" b="1">
                <a:solidFill>
                  <a:srgbClr val="EAF2FF"/>
                </a:solidFill>
              </a:rPr>
              <a:t>Live deps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08D941-CED9-4B25-B759-38F0B125F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43250"/>
            <a:ext cx="1047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9525">
            <a:solidFill>
              <a:srgbClr val="24D7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A25B96-8A2C-4BBA-A36B-A4B517FF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9565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4D7E8"/>
                </a:solidFill>
              </a:defRPr>
            </a:pPr>
            <a:r>
              <a:rPr sz="900" b="1">
                <a:solidFill>
                  <a:srgbClr val="24D7E8"/>
                </a:solidFill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4682E7-0D46-48D1-9E45-45187141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71875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EAF2FF"/>
                </a:solidFill>
              </a:defRPr>
            </a:pPr>
            <a:r>
              <a:rPr sz="938" b="1">
                <a:solidFill>
                  <a:srgbClr val="EAF2FF"/>
                </a:solidFill>
              </a:rPr>
              <a:t>Wheel cache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0AC39D-F4CB-4C8C-A655-B594CDC4F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143250"/>
            <a:ext cx="1047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9525">
            <a:solidFill>
              <a:srgbClr val="27415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B7EE2F-28D0-4DC2-842C-C4489792A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9565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5758A"/>
                </a:solidFill>
              </a:defRPr>
            </a:pPr>
            <a:r>
              <a:rPr sz="900" b="1">
                <a:solidFill>
                  <a:srgbClr val="65758A"/>
                </a:solidFill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0ACB3E-53E9-4FC9-85F9-4AC92D761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571875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EAF2FF"/>
                </a:solidFill>
              </a:defRPr>
            </a:pPr>
            <a:r>
              <a:rPr sz="938" b="1">
                <a:solidFill>
                  <a:srgbClr val="EAF2FF"/>
                </a:solidFill>
              </a:rPr>
              <a:t>GigaAM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BA9738E-D96E-4FBA-901C-6ED004FF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143250"/>
            <a:ext cx="1047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9525">
            <a:solidFill>
              <a:srgbClr val="27415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45545E-1A4F-41F9-A138-FAAF3BB0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9565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5758A"/>
                </a:solidFill>
              </a:defRPr>
            </a:pPr>
            <a:r>
              <a:rPr sz="900" b="1">
                <a:solidFill>
                  <a:srgbClr val="65758A"/>
                </a:solidFill>
              </a:rPr>
              <a:t>07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1DCDD0-D6BD-4BCB-99EC-76B3044DA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571875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EAF2FF"/>
                </a:solidFill>
              </a:defRPr>
            </a:pPr>
            <a:r>
              <a:rPr sz="938" b="1">
                <a:solidFill>
                  <a:srgbClr val="EAF2FF"/>
                </a:solidFill>
              </a:rPr>
              <a:t>whisper.cpp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0FA9E2-87B7-4ECA-B790-B97A576A2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143250"/>
            <a:ext cx="1047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9525">
            <a:solidFill>
              <a:srgbClr val="27415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968254-0EF4-4F58-988A-013AD07CA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3295650"/>
            <a:ext cx="781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65758A"/>
                </a:solidFill>
              </a:defRPr>
            </a:pPr>
            <a:r>
              <a:rPr sz="900" b="1">
                <a:solidFill>
                  <a:srgbClr val="65758A"/>
                </a:solidFill>
              </a:rPr>
              <a:t>08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933D18-D7C0-41DA-AA79-83103F4A4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571875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EAF2FF"/>
                </a:solidFill>
              </a:defRPr>
            </a:pPr>
            <a:r>
              <a:rPr sz="938" b="1">
                <a:solidFill>
                  <a:srgbClr val="EAF2FF"/>
                </a:solidFill>
              </a:rPr>
              <a:t>Verify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F951419-2243-461E-A8E6-341BD85D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57750"/>
            <a:ext cx="94107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111D30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9DEF81E-2806-4DB6-8A8E-F3CD2C69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057775"/>
            <a:ext cx="883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40" b="1">
                <a:solidFill>
                  <a:srgbClr val="EAF2FF"/>
                </a:solidFill>
              </a:defRPr>
            </a:pPr>
            <a:r>
              <a:rPr sz="1140" b="1">
                <a:solidFill>
                  <a:srgbClr val="EAF2FF"/>
                </a:solidFill>
              </a:rPr>
              <a:t>Cleanup удаляет воспроизводимые payloads, но защищает configs, scripts, system_core, tests и docs.</a:t>
            </a:r>
          </a:p>
        </p:txBody>
      </p:sp>
    </p:spTree>
    <p:extLst>
      <p:ext uri="{BB962C8B-B14F-4D97-AF65-F5344CB8AC3E}">
        <p14:creationId xmlns:p14="http://schemas.microsoft.com/office/powerpoint/2010/main" val="17246128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0602D3-17C1-4F5A-8960-749F5063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2"/>
          </a:solidFill>
          <a:ln xmlns:a="http://schemas.openxmlformats.org/drawingml/2006/main" w="0">
            <a:solidFill>
              <a:srgbClr val="070B1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C9731B-B158-4FBB-9BCD-5A9F1B83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D"/>
          </a:solidFill>
          <a:ln xmlns:a="http://schemas.openxmlformats.org/drawingml/2006/main" w="0">
            <a:solidFill>
              <a:srgbClr val="0B111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A87EBB-AFD5-4780-AE4B-D2F6B996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15F"/>
          </a:solidFill>
          <a:ln xmlns:a="http://schemas.openxmlformats.org/drawingml/2006/main" w="0">
            <a:solidFill>
              <a:srgbClr val="2741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ED83DB-6FE4-48FD-994C-8E22D9F5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F2FF"/>
                </a:solidFill>
              </a:defRPr>
            </a:pPr>
            <a:r>
              <a:rPr sz="1275" b="1">
                <a:solidFill>
                  <a:srgbClr val="EAF2FF"/>
                </a:solidFill>
              </a:rPr>
              <a:t>Audion Voice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658453-DEC7-4138-B5C5-F69D8B9BE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86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FB0C3"/>
                </a:solidFill>
              </a:defRPr>
            </a:pPr>
            <a:r>
              <a:rPr sz="825" b="1">
                <a:solidFill>
                  <a:srgbClr val="9FB0C3"/>
                </a:solidFill>
              </a:rPr>
              <a:t>PRODUCT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F7765F-7BC2-4938-A1B5-195E452E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436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5708E"/>
                </a:solidFill>
              </a:defRPr>
            </a:pPr>
            <a:r>
              <a:rPr sz="750" b="0">
                <a:solidFill>
                  <a:srgbClr val="55708E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6CC614-BF11-47D7-BB05-57FC9B41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5708E"/>
                </a:solidFill>
              </a:defRPr>
            </a:pPr>
            <a:r>
              <a:rPr sz="713" b="0">
                <a:solidFill>
                  <a:srgbClr val="55708E"/>
                </a:solidFill>
              </a:rPr>
              <a:t>Audion Voice AI overview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E8F256-3695-4DE3-902B-C117D45F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AF2FF"/>
                </a:solidFill>
              </a:defRPr>
            </a:pPr>
            <a:r>
              <a:rPr sz="2400" b="1">
                <a:solidFill>
                  <a:srgbClr val="EAF2FF"/>
                </a:solidFill>
              </a:rPr>
              <a:t>Live-диктовка начинает запись раньше, чем готов сетевой путь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010AB7-B36D-452E-9797-37820349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7825"/>
            <a:ext cx="838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D7E8"/>
          </a:solidFill>
          <a:ln xmlns:a="http://schemas.openxmlformats.org/drawingml/2006/main" w="0">
            <a:solidFill>
              <a:srgbClr val="24D7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CF80A0-2AB2-48A9-8BE6-636003D28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42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9FB0C3"/>
                </a:solidFill>
              </a:defRPr>
            </a:pPr>
            <a:r>
              <a:rPr sz="1163" b="0">
                <a:solidFill>
                  <a:srgbClr val="9FB0C3"/>
                </a:solidFill>
              </a:rPr>
              <a:t>Микрофон открывается первым, поэтому начало фразы не теряется, пока Realtime или local-модель прогревается.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39F970-BBBE-4EAA-A7F3-BB6CAE1E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28950"/>
            <a:ext cx="2190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10478">
            <a:solidFill>
              <a:srgbClr val="24D7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C51C7A-A8B5-4BC6-89AA-6F52EDC83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4D7E8"/>
          </a:solidFill>
          <a:ln xmlns:a="http://schemas.openxmlformats.org/drawingml/2006/main" w="0">
            <a:solidFill>
              <a:srgbClr val="24D7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0AFA0C-1700-4D38-A065-24740D1C1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2289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2FF"/>
                </a:solidFill>
              </a:defRPr>
            </a:pPr>
            <a:r>
              <a:rPr sz="1350" b="1">
                <a:solidFill>
                  <a:srgbClr val="EAF2FF"/>
                </a:solidFill>
              </a:rPr>
              <a:t>Hotkey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22350F-C63A-4E39-A6DC-1EFCFD591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95700"/>
            <a:ext cx="1733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9FB0C3"/>
                </a:solidFill>
              </a:defRPr>
            </a:pPr>
            <a:r>
              <a:rPr sz="1065" b="0">
                <a:solidFill>
                  <a:srgbClr val="9FB0C3"/>
                </a:solidFill>
              </a:rPr>
              <a:t>Alt+Win или continuous mode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79392E-0218-477C-9BBE-4935040E5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81000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5A7C"/>
          </a:solidFill>
          <a:ln xmlns:a="http://schemas.openxmlformats.org/drawingml/2006/main" w="0">
            <a:solidFill>
              <a:srgbClr val="385A7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8B37B6-4EE1-42DB-8D17-ADFF6ABBE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714750"/>
            <a:ext cx="171450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85A7C"/>
          </a:solidFill>
          <a:ln xmlns:a="http://schemas.openxmlformats.org/drawingml/2006/main" w="0">
            <a:solidFill>
              <a:srgbClr val="385A7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79DFD7-E91F-4E19-832D-2829837A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028950"/>
            <a:ext cx="2190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10478">
            <a:solidFill>
              <a:srgbClr val="2E8A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5F0674-11FE-49EF-8D35-F444150F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194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E8AF7"/>
          </a:solidFill>
          <a:ln xmlns:a="http://schemas.openxmlformats.org/drawingml/2006/main" w="0">
            <a:solidFill>
              <a:srgbClr val="2E8AF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DB1277-224F-4874-977C-4DC8B3BFF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289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2FF"/>
                </a:solidFill>
              </a:defRPr>
            </a:pPr>
            <a:r>
              <a:rPr sz="1350" b="1">
                <a:solidFill>
                  <a:srgbClr val="EAF2FF"/>
                </a:solidFill>
              </a:rPr>
              <a:t>Mic stream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AF5AAF-FB50-4212-8E06-E7DB73A95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695700"/>
            <a:ext cx="1733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9FB0C3"/>
                </a:solidFill>
              </a:defRPr>
            </a:pPr>
            <a:r>
              <a:rPr sz="1065" b="0">
                <a:solidFill>
                  <a:srgbClr val="9FB0C3"/>
                </a:solidFill>
              </a:rPr>
              <a:t>PCM16 input, диагностика не пишет файл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26EFED-DC57-4E5F-B7A6-EAD04148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1000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5A7C"/>
          </a:solidFill>
          <a:ln xmlns:a="http://schemas.openxmlformats.org/drawingml/2006/main" w="0">
            <a:solidFill>
              <a:srgbClr val="385A7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BE9C95-5915-4A49-8C8A-39B74B2BF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714750"/>
            <a:ext cx="171450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85A7C"/>
          </a:solidFill>
          <a:ln xmlns:a="http://schemas.openxmlformats.org/drawingml/2006/main" w="0">
            <a:solidFill>
              <a:srgbClr val="385A7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1DAD99-2C64-460E-8788-D53A8A35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28950"/>
            <a:ext cx="2190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10478">
            <a:solidFill>
              <a:srgbClr val="8B5CF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0B8A01-E46E-411D-97F2-F50A67878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194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592E96-76E8-41AC-9D65-9A5A25DFC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289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2FF"/>
                </a:solidFill>
              </a:defRPr>
            </a:pPr>
            <a:r>
              <a:rPr sz="1350" b="1">
                <a:solidFill>
                  <a:srgbClr val="EAF2FF"/>
                </a:solidFill>
              </a:rPr>
              <a:t>STT engine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EAA529-7899-4A0C-8E64-BE2A98F6E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95700"/>
            <a:ext cx="1733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9FB0C3"/>
                </a:solidFill>
              </a:defRPr>
            </a:pPr>
            <a:r>
              <a:rPr sz="1065" b="0">
                <a:solidFill>
                  <a:srgbClr val="9FB0C3"/>
                </a:solidFill>
              </a:rPr>
              <a:t>OpenAI, xAI, ElevenLabs, GigaAM, whisper.cpp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5798D3-14B6-460D-A732-5F2DE37C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810000"/>
            <a:ext cx="5524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85A7C"/>
          </a:solidFill>
          <a:ln xmlns:a="http://schemas.openxmlformats.org/drawingml/2006/main" w="0">
            <a:solidFill>
              <a:srgbClr val="385A7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965E82-6E66-4CAE-A3B1-786C22D72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714750"/>
            <a:ext cx="171450" cy="2095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85A7C"/>
          </a:solidFill>
          <a:ln xmlns:a="http://schemas.openxmlformats.org/drawingml/2006/main" w="0">
            <a:solidFill>
              <a:srgbClr val="385A7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20ADB7-E42E-4033-8117-925903B8C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28950"/>
            <a:ext cx="21907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10478">
            <a:solidFill>
              <a:srgbClr val="34D39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5CC4FE-7BD1-42F2-B5E9-D53BFC7F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194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34D39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09773B-0541-4F42-859A-106892C8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22897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2FF"/>
                </a:solidFill>
              </a:defRPr>
            </a:pPr>
            <a:r>
              <a:rPr sz="1350" b="1">
                <a:solidFill>
                  <a:srgbClr val="EAF2FF"/>
                </a:solidFill>
              </a:rPr>
              <a:t>Output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4109DB-72C6-482A-9B6E-0E8A2FC8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695700"/>
            <a:ext cx="17335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9FB0C3"/>
                </a:solidFill>
              </a:defRPr>
            </a:pPr>
            <a:r>
              <a:rPr sz="1065" b="0">
                <a:solidFill>
                  <a:srgbClr val="9FB0C3"/>
                </a:solidFill>
              </a:rPr>
              <a:t>Overlay, paste, log, export</a:t>
            </a:r>
          </a:p>
        </p:txBody>
      </p:sp>
    </p:spTree>
    <p:extLst>
      <p:ext uri="{BB962C8B-B14F-4D97-AF65-F5344CB8AC3E}">
        <p14:creationId xmlns:p14="http://schemas.microsoft.com/office/powerpoint/2010/main" val="35266031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DA27B8-C7FF-488A-8AAF-344094E2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2"/>
          </a:solidFill>
          <a:ln xmlns:a="http://schemas.openxmlformats.org/drawingml/2006/main" w="0">
            <a:solidFill>
              <a:srgbClr val="070B1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957419-2C8B-4671-870D-A86815714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D"/>
          </a:solidFill>
          <a:ln xmlns:a="http://schemas.openxmlformats.org/drawingml/2006/main" w="0">
            <a:solidFill>
              <a:srgbClr val="0B111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36A2B6-DAC9-4B32-977B-05A77B8C3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15F"/>
          </a:solidFill>
          <a:ln xmlns:a="http://schemas.openxmlformats.org/drawingml/2006/main" w="0">
            <a:solidFill>
              <a:srgbClr val="2741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F0877F-E648-44FF-B532-41D2535A4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F2FF"/>
                </a:solidFill>
              </a:defRPr>
            </a:pPr>
            <a:r>
              <a:rPr sz="1275" b="1">
                <a:solidFill>
                  <a:srgbClr val="EAF2FF"/>
                </a:solidFill>
              </a:rPr>
              <a:t>Audion Voice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6C3DA2-09D0-4898-A264-11421397D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86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FB0C3"/>
                </a:solidFill>
              </a:defRPr>
            </a:pPr>
            <a:r>
              <a:rPr sz="825" b="1">
                <a:solidFill>
                  <a:srgbClr val="9FB0C3"/>
                </a:solidFill>
              </a:rPr>
              <a:t>PRODUCT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2590BB-0F92-45C6-917B-FC4593C72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436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5708E"/>
                </a:solidFill>
              </a:defRPr>
            </a:pPr>
            <a:r>
              <a:rPr sz="750" b="0">
                <a:solidFill>
                  <a:srgbClr val="55708E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FB70AC-447A-4559-8889-4D9C1362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5708E"/>
                </a:solidFill>
              </a:defRPr>
            </a:pPr>
            <a:r>
              <a:rPr sz="713" b="0">
                <a:solidFill>
                  <a:srgbClr val="55708E"/>
                </a:solidFill>
              </a:rPr>
              <a:t>Audion Voice AI overview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245B0B-6906-4667-9C96-592FA20EB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AF2FF"/>
                </a:solidFill>
              </a:defRPr>
            </a:pPr>
            <a:r>
              <a:rPr sz="2400" b="1">
                <a:solidFill>
                  <a:srgbClr val="EAF2FF"/>
                </a:solidFill>
              </a:rPr>
              <a:t>Локальные модели дают приватность без превращения ноутбука в CUDA-машину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89A4BC-3990-4847-8213-10FEC432C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7825"/>
            <a:ext cx="838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D7E8"/>
          </a:solidFill>
          <a:ln xmlns:a="http://schemas.openxmlformats.org/drawingml/2006/main" w="0">
            <a:solidFill>
              <a:srgbClr val="24D7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D99854-69BE-43EA-8536-A5D71B363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42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9FB0C3"/>
                </a:solidFill>
              </a:defRPr>
            </a:pPr>
            <a:r>
              <a:rPr sz="1163" b="0">
                <a:solidFill>
                  <a:srgbClr val="9FB0C3"/>
                </a:solidFill>
              </a:rPr>
              <a:t>Локальный путь полезен, потому что он явный, диагностируемый и умеет спокойно падать в fallback.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AFAA0F-2CAD-49C0-A99F-C46894F1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3276600" cy="201930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10478">
            <a:solidFill>
              <a:srgbClr val="24D7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935FC0-D381-4060-A905-A333FC51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4D7E8"/>
          </a:solidFill>
          <a:ln xmlns:a="http://schemas.openxmlformats.org/drawingml/2006/main" w="0">
            <a:solidFill>
              <a:srgbClr val="24D7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F09634-A443-482C-9A18-51E377B6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67025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2FF"/>
                </a:solidFill>
              </a:defRPr>
            </a:pPr>
            <a:r>
              <a:rPr sz="1350" b="1">
                <a:solidFill>
                  <a:srgbClr val="EAF2FF"/>
                </a:solidFill>
              </a:rPr>
              <a:t>GigaAM default для RU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B2E73F-E60C-47B9-A618-2EAB00D31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28194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9FB0C3"/>
                </a:solidFill>
              </a:defRPr>
            </a:pPr>
            <a:r>
              <a:rPr sz="1065" b="0">
                <a:solidFill>
                  <a:srgbClr val="9FB0C3"/>
                </a:solidFill>
              </a:rPr>
              <a:t>Небольшая ONNX-модель может оставаться прогретой в Live без workstation-памяти.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6722D1-2C35-45F5-B098-F9A724EBF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67000"/>
            <a:ext cx="3276600" cy="201930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10478">
            <a:solidFill>
              <a:srgbClr val="2E8A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ED394E-8020-4B00-B4C6-14F713668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575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E8AF7"/>
          </a:solidFill>
          <a:ln xmlns:a="http://schemas.openxmlformats.org/drawingml/2006/main" w="0">
            <a:solidFill>
              <a:srgbClr val="2E8AF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E66F7E-84EC-47A4-AC1E-721219A67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867025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2FF"/>
                </a:solidFill>
              </a:defRPr>
            </a:pPr>
            <a:r>
              <a:rPr sz="1350" b="1">
                <a:solidFill>
                  <a:srgbClr val="EAF2FF"/>
                </a:solidFill>
              </a:rPr>
              <a:t>whisper.cpp fallback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5A4F23-5D75-45EE-B62A-F72774897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333750"/>
            <a:ext cx="28194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9FB0C3"/>
                </a:solidFill>
              </a:defRPr>
            </a:pPr>
            <a:r>
              <a:rPr sz="1065" b="0">
                <a:solidFill>
                  <a:srgbClr val="9FB0C3"/>
                </a:solidFill>
              </a:rPr>
              <a:t>Vulkan используется при наличии; официальный CPU fallback сохраняет путь рабочим.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4043A6-8720-456C-B373-4A2271535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67000"/>
            <a:ext cx="3276600" cy="201930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10478">
            <a:solidFill>
              <a:srgbClr val="8B5CF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A1951A-07A7-4295-A86D-FB8C59A5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8575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8B5CF6"/>
          </a:solidFill>
          <a:ln xmlns:a="http://schemas.openxmlformats.org/drawingml/2006/main" w="0">
            <a:solidFill>
              <a:srgbClr val="8B5CF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8603A9-85C6-4171-820A-3536B124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67025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AF2FF"/>
                </a:solidFill>
              </a:defRPr>
            </a:pPr>
            <a:r>
              <a:rPr sz="1350" b="1">
                <a:solidFill>
                  <a:srgbClr val="EAF2FF"/>
                </a:solidFill>
              </a:rPr>
              <a:t>Mic check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C901ED-F0EA-42CA-AF23-C8C54DBCB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33750"/>
            <a:ext cx="28194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65" b="0">
                <a:solidFill>
                  <a:srgbClr val="9FB0C3"/>
                </a:solidFill>
              </a:defRPr>
            </a:pPr>
            <a:r>
              <a:rPr sz="1065" b="0">
                <a:solidFill>
                  <a:srgbClr val="9FB0C3"/>
                </a:solidFill>
              </a:rPr>
              <a:t>Установки теперь открывают input-поток, считают PCM-байты и дают понятную Windows audio подсказку.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92ADC4-8C4B-4949-977E-9C963E921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86375"/>
            <a:ext cx="97917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111D30"/>
          </a:solidFill>
          <a:ln xmlns:a="http://schemas.openxmlformats.org/drawingml/2006/main" w="9525">
            <a:solidFill>
              <a:srgbClr val="24D7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FB09EC-DA7A-4C27-85CA-0F272C779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457825"/>
            <a:ext cx="918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EAF2FF"/>
                </a:solidFill>
              </a:defRPr>
            </a:pPr>
            <a:r>
              <a:rPr sz="1125" b="1">
                <a:solidFill>
                  <a:srgbClr val="EAF2FF"/>
                </a:solidFill>
              </a:rPr>
              <a:t>Пользователь видит готовность, а не загадку: зависимости, устройства и stream-ошибки показаны явно.</a:t>
            </a:r>
          </a:p>
        </p:txBody>
      </p:sp>
    </p:spTree>
    <p:extLst>
      <p:ext uri="{BB962C8B-B14F-4D97-AF65-F5344CB8AC3E}">
        <p14:creationId xmlns:p14="http://schemas.microsoft.com/office/powerpoint/2010/main" val="19285624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0B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541BB4-234F-45A2-A4DE-088CDDF1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2"/>
          </a:solidFill>
          <a:ln xmlns:a="http://schemas.openxmlformats.org/drawingml/2006/main" w="0">
            <a:solidFill>
              <a:srgbClr val="070B1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C99CF5-2067-4A27-927F-3E6C379E1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11D"/>
          </a:solidFill>
          <a:ln xmlns:a="http://schemas.openxmlformats.org/drawingml/2006/main" w="0">
            <a:solidFill>
              <a:srgbClr val="0B111D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D5569D-A7EC-410F-83B3-A38B2A962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415F"/>
          </a:solidFill>
          <a:ln xmlns:a="http://schemas.openxmlformats.org/drawingml/2006/main" w="0">
            <a:solidFill>
              <a:srgbClr val="27415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9C8C66-FE58-43B7-9737-921F0C15C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AF2FF"/>
                </a:solidFill>
              </a:defRPr>
            </a:pPr>
            <a:r>
              <a:rPr sz="1275" b="1">
                <a:solidFill>
                  <a:srgbClr val="EAF2FF"/>
                </a:solidFill>
              </a:rPr>
              <a:t>Audion Voice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AD4703-25BD-4B99-95C0-CCDC6DC7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86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FB0C3"/>
                </a:solidFill>
              </a:defRPr>
            </a:pPr>
            <a:r>
              <a:rPr sz="825" b="1">
                <a:solidFill>
                  <a:srgbClr val="9FB0C3"/>
                </a:solidFill>
              </a:rPr>
              <a:t>PRODUCT DECK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BCCF39-1FBE-4DDF-AECF-82F8F1F4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343650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5708E"/>
                </a:solidFill>
              </a:defRPr>
            </a:pPr>
            <a:r>
              <a:rPr sz="750" b="0">
                <a:solidFill>
                  <a:srgbClr val="55708E"/>
                </a:solidFill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314450-E6BC-4E2A-A35F-39F7C63BA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5708E"/>
                </a:solidFill>
              </a:defRPr>
            </a:pPr>
            <a:r>
              <a:rPr sz="713" b="0">
                <a:solidFill>
                  <a:srgbClr val="55708E"/>
                </a:solidFill>
              </a:rPr>
              <a:t>Audion Voice AI overview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5524D1-9782-41FF-9C0E-1BF1E88A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33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EAF2FF"/>
                </a:solidFill>
              </a:defRPr>
            </a:pPr>
            <a:r>
              <a:rPr sz="2400" b="1">
                <a:solidFill>
                  <a:srgbClr val="EAF2FF"/>
                </a:solidFill>
              </a:rPr>
              <a:t>Оставшийся риск — backend-валидация, а не форма продукта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0E1F78-D45F-4F2B-A116-E14873B95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47825"/>
            <a:ext cx="8382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D7E8"/>
          </a:solidFill>
          <a:ln xmlns:a="http://schemas.openxmlformats.org/drawingml/2006/main" w="0">
            <a:solidFill>
              <a:srgbClr val="24D7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FD8E14-5262-4110-9FAF-B1B81D75A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942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9FB0C3"/>
                </a:solidFill>
              </a:defRPr>
            </a:pPr>
            <a:r>
              <a:rPr sz="1163" b="0">
                <a:solidFill>
                  <a:srgbClr val="9FB0C3"/>
                </a:solidFill>
              </a:rPr>
              <a:t>UI, installer workflow, документация и Live rebuild уже собраны в цельную рабочую систему.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805158-CEAA-463E-819A-F6235AC92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29527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11430">
            <a:solidFill>
              <a:srgbClr val="24D7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F118DB-8737-4453-9F3A-FCE4BFA74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0990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4D7E8"/>
                </a:solidFill>
              </a:defRPr>
            </a:pPr>
            <a:r>
              <a:rPr sz="2550" b="1">
                <a:solidFill>
                  <a:srgbClr val="24D7E8"/>
                </a:solidFill>
              </a:rPr>
              <a:t>136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767EF2-18D6-4180-A05E-46F4A7560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62350"/>
            <a:ext cx="2419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53" b="0">
                <a:solidFill>
                  <a:srgbClr val="9FB0C3"/>
                </a:solidFill>
              </a:defRPr>
            </a:pPr>
            <a:r>
              <a:rPr sz="953" b="0">
                <a:solidFill>
                  <a:srgbClr val="9FB0C3"/>
                </a:solidFill>
              </a:rPr>
              <a:t>Live tests passed после реального cleanup и rebuild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4B29D4-75FB-407B-8F02-952F97ED5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81300"/>
            <a:ext cx="29527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11430">
            <a:solidFill>
              <a:srgbClr val="2E8AF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7E84D6-3D2E-4813-915D-7827C22A5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00990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E8AF7"/>
                </a:solidFill>
              </a:defRPr>
            </a:pPr>
            <a:r>
              <a:rPr sz="2550" b="1">
                <a:solidFill>
                  <a:srgbClr val="2E8AF7"/>
                </a:solidFill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31BEB9-7E37-4C28-BC2C-CB52C8A62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562350"/>
            <a:ext cx="2419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53" b="0">
                <a:solidFill>
                  <a:srgbClr val="9FB0C3"/>
                </a:solidFill>
              </a:defRPr>
            </a:pPr>
            <a:r>
              <a:rPr sz="953" b="0">
                <a:solidFill>
                  <a:srgbClr val="9FB0C3"/>
                </a:solidFill>
              </a:rPr>
              <a:t>Пользовательские вкладки: Live, Files, Settings, Setup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A6E6F5-22B0-4626-A4EA-E990EB3D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81300"/>
            <a:ext cx="29527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E1726"/>
          </a:solidFill>
          <a:ln xmlns:a="http://schemas.openxmlformats.org/drawingml/2006/main" w="11430">
            <a:solidFill>
              <a:srgbClr val="34D39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744809-F836-496B-A6F3-F531815C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0990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4D399"/>
                </a:solidFill>
              </a:defRPr>
            </a:pPr>
            <a:r>
              <a:rPr sz="2550" b="1">
                <a:solidFill>
                  <a:srgbClr val="34D399"/>
                </a:solidFill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D0E859-51EF-4176-A797-F3C754480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62350"/>
            <a:ext cx="2419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53" b="0">
                <a:solidFill>
                  <a:srgbClr val="9FB0C3"/>
                </a:solidFill>
              </a:defRPr>
            </a:pPr>
            <a:r>
              <a:rPr sz="953" b="0">
                <a:solidFill>
                  <a:srgbClr val="9FB0C3"/>
                </a:solidFill>
              </a:rPr>
              <a:t>Темы: Mess Blue и Graphite Code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9FE6E1-5B45-4AFC-8108-4AB226EBB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91050"/>
            <a:ext cx="96774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11D30"/>
          </a:solidFill>
          <a:ln xmlns:a="http://schemas.openxmlformats.org/drawingml/2006/main" w="9525">
            <a:solidFill>
              <a:srgbClr val="385A7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046815-8FE4-4F04-90A8-2BB4D419F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149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427EB7-03E8-446C-A3E4-3769A3672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857750"/>
            <a:ext cx="843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95" b="0">
                <a:solidFill>
                  <a:srgbClr val="EAF2FF"/>
                </a:solidFill>
              </a:defRPr>
            </a:pPr>
            <a:r>
              <a:rPr sz="1095" b="0">
                <a:solidFill>
                  <a:srgbClr val="EAF2FF"/>
                </a:solidFill>
              </a:rPr>
              <a:t>Прогнать Studio CUDA smoke на RTX workstation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D24E6A-552B-4462-B37D-86BA8EBA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816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6EB0C7-1902-414D-B3DC-160D7D54C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124450"/>
            <a:ext cx="843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95" b="0">
                <a:solidFill>
                  <a:srgbClr val="EAF2FF"/>
                </a:solidFill>
              </a:defRPr>
            </a:pPr>
            <a:r>
              <a:rPr sz="1095" b="0">
                <a:solidFill>
                  <a:srgbClr val="EAF2FF"/>
                </a:solidFill>
              </a:rPr>
              <a:t>Проверить TensorRT/CUDA throughput моделей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FB5819-1DF0-4548-8BFC-DBDA4248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48300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825F6F-5902-465B-8FEF-43C92A639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391150"/>
            <a:ext cx="8439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95" b="0">
                <a:solidFill>
                  <a:srgbClr val="EAF2FF"/>
                </a:solidFill>
              </a:defRPr>
            </a:pPr>
            <a:r>
              <a:rPr sz="1095" b="0">
                <a:solidFill>
                  <a:srgbClr val="EAF2FF"/>
                </a:solidFill>
              </a:rPr>
              <a:t>Дошлифовать device-specific audio edge cases после живого использования</a:t>
            </a:r>
          </a:p>
        </p:txBody>
      </p:sp>
    </p:spTree>
    <p:extLst>
      <p:ext uri="{BB962C8B-B14F-4D97-AF65-F5344CB8AC3E}">
        <p14:creationId xmlns:p14="http://schemas.microsoft.com/office/powerpoint/2010/main" val="12798126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2026-07-02T08:42:05.8250000Z</dcterms:created>
  <dcterms:modified xsi:type="dcterms:W3CDTF">2026-07-02T08:42:05.8250000Z</dcterms:modified>
</coreProperties>
</file>
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7adc661ae4fbd" /><Relationship Type="http://schemas.openxmlformats.org/officeDocument/2006/relationships/extended-properties" Target="/docProps/app.xml" Id="Rb9b338721b374813" /><Relationship Type="http://schemas.openxmlformats.org/officeDocument/2006/relationships/officeDocument" Target="/ppt/presentation.xml" Id="R6197627053a5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2ace716154174"/>
  </p:sldMasterIdLst>
  <p:notesMasterIdLst>
    <p:notesMasterId xmlns:r="http://schemas.openxmlformats.org/officeDocument/2006/relationships" r:id="R8152ecdbe55648fb"/>
  </p:notesMasterIdLst>
  <p:sldIdLst>
    <p:sldId xmlns:r="http://schemas.openxmlformats.org/officeDocument/2006/relationships" id="256" r:id="R9d295a4b4cc2453b"/>
    <p:sldId xmlns:r="http://schemas.openxmlformats.org/officeDocument/2006/relationships" id="257" r:id="R755c41fa2fed4d95"/>
    <p:sldId xmlns:r="http://schemas.openxmlformats.org/officeDocument/2006/relationships" id="258" r:id="Raf87b5496fd549da"/>
    <p:sldId xmlns:r="http://schemas.openxmlformats.org/officeDocument/2006/relationships" id="259" r:id="R18941fce4600414d"/>
    <p:sldId xmlns:r="http://schemas.openxmlformats.org/officeDocument/2006/relationships" id="260" r:id="Re4098d1f5f944991"/>
    <p:sldId xmlns:r="http://schemas.openxmlformats.org/officeDocument/2006/relationships" id="261" r:id="R374890b81f6f49f3"/>
    <p:sldId xmlns:r="http://schemas.openxmlformats.org/officeDocument/2006/relationships" id="262" r:id="R997c04e6ebe64b28"/>
    <p:sldId xmlns:r="http://schemas.openxmlformats.org/officeDocument/2006/relationships" id="263" r:id="Radc2b800c822469e"/>
    <p:sldId xmlns:r="http://schemas.openxmlformats.org/officeDocument/2006/relationships" id="264" r:id="R5b20800cf61f48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f5c62c5a7c47ef" /><Relationship Type="http://schemas.openxmlformats.org/officeDocument/2006/relationships/slideMaster" Target="/ppt/slideMasters/slideMaster1.xml" Id="R8922ace716154174" /><Relationship Type="http://schemas.openxmlformats.org/officeDocument/2006/relationships/notesMaster" Target="/ppt/notesMasters/notesMaster1.xml" Id="R8152ecdbe55648fb" /><Relationship Type="http://schemas.openxmlformats.org/officeDocument/2006/relationships/presProps" Target="/ppt/presProps.xml" Id="Rc504866ac3c3443d" /><Relationship Type="http://schemas.openxmlformats.org/officeDocument/2006/relationships/tableStyles" Target="/ppt/tableStyles.xml" Id="R5ff39fd0182e4ce8" /><Relationship Type="http://schemas.openxmlformats.org/officeDocument/2006/relationships/slide" Target="/ppt/slides/slide1.xml" Id="R9d295a4b4cc2453b" /><Relationship Type="http://schemas.openxmlformats.org/officeDocument/2006/relationships/slide" Target="/ppt/slides/slide2.xml" Id="R755c41fa2fed4d95" /><Relationship Type="http://schemas.openxmlformats.org/officeDocument/2006/relationships/slide" Target="/ppt/slides/slide3.xml" Id="Raf87b5496fd549da" /><Relationship Type="http://schemas.openxmlformats.org/officeDocument/2006/relationships/slide" Target="/ppt/slides/slide4.xml" Id="R18941fce4600414d" /><Relationship Type="http://schemas.openxmlformats.org/officeDocument/2006/relationships/slide" Target="/ppt/slides/slide5.xml" Id="Re4098d1f5f944991" /><Relationship Type="http://schemas.openxmlformats.org/officeDocument/2006/relationships/slide" Target="/ppt/slides/slide6.xml" Id="R374890b81f6f49f3" /><Relationship Type="http://schemas.openxmlformats.org/officeDocument/2006/relationships/slide" Target="/ppt/slides/slide7.xml" Id="R997c04e6ebe64b28" /><Relationship Type="http://schemas.openxmlformats.org/officeDocument/2006/relationships/slide" Target="/ppt/slides/slide8.xml" Id="Radc2b800c822469e" /><Relationship Type="http://schemas.openxmlformats.org/officeDocument/2006/relationships/slide" Target="/ppt/slides/slide9.xml" Id="R5b20800cf61f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27b8f47c7b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8ae3ac6faa4363" /><Relationship Type="http://schemas.openxmlformats.org/officeDocument/2006/relationships/notesMaster" Target="/ppt/notesMasters/notesMaster1.xml" Id="Rd85ff6474ae24d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4003254d64ec5" /><Relationship Type="http://schemas.openxmlformats.org/officeDocument/2006/relationships/notesMaster" Target="/ppt/notesMasters/notesMaster1.xml" Id="Rc3bd8ebfdb99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f74cccd5be4a0e" /><Relationship Type="http://schemas.openxmlformats.org/officeDocument/2006/relationships/notesMaster" Target="/ppt/notesMasters/notesMaster1.xml" Id="R0a9e0eb1718349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994bd0d294df1" /><Relationship Type="http://schemas.openxmlformats.org/officeDocument/2006/relationships/notesMaster" Target="/ppt/notesMasters/notesMaster1.xml" Id="R0c210549bfb5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7318e64974f94" /><Relationship Type="http://schemas.openxmlformats.org/officeDocument/2006/relationships/notesMaster" Target="/ppt/notesMasters/notesMaster1.xml" Id="R1aa41f3cb77742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e34dca1c742d0" /><Relationship Type="http://schemas.openxmlformats.org/officeDocument/2006/relationships/notesMaster" Target="/ppt/notesMasters/notesMaster1.xml" Id="Rec23899384db4b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48e6390024347" /><Relationship Type="http://schemas.openxmlformats.org/officeDocument/2006/relationships/notesMaster" Target="/ppt/notesMasters/notesMaster1.xml" Id="R3354fabca96642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3694787b24889" /><Relationship Type="http://schemas.openxmlformats.org/officeDocument/2006/relationships/notesMaster" Target="/ppt/notesMasters/notesMaster1.xml" Id="Rfa576f77758247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ac44c319a409f" /><Relationship Type="http://schemas.openxmlformats.org/officeDocument/2006/relationships/notesMaster" Target="/ppt/notesMasters/notesMaster1.xml" Id="Ra2c92a5d12424b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53a88f45f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864674c00487c" /><Relationship Type="http://schemas.openxmlformats.org/officeDocument/2006/relationships/slideLayout" Target="/ppt/slideLayouts/slideLayout1.xml" Id="Rf1edf34bc013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df34bc013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753b796534eca" /><Relationship Type="http://schemas.openxmlformats.org/officeDocument/2006/relationships/notesSlide" Target="/ppt/notesSlides/notesSlide1.xml" Id="R95c1ee4c24ff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91e8b9f1b4dda" /><Relationship Type="http://schemas.openxmlformats.org/officeDocument/2006/relationships/notesSlide" Target="/ppt/notesSlides/notesSlide2.xml" Id="R568d488446414f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4e97509534a44" /><Relationship Type="http://schemas.openxmlformats.org/officeDocument/2006/relationships/notesSlide" Target="/ppt/notesSlides/notesSlide3.xml" Id="R73527f37d0e44a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4d25b093c4a47" /><Relationship Type="http://schemas.openxmlformats.org/officeDocument/2006/relationships/notesSlide" Target="/ppt/notesSlides/notesSlide4.xml" Id="R438fcaa7de4b4b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43d9af1b74bf2" /><Relationship Type="http://schemas.openxmlformats.org/officeDocument/2006/relationships/notesSlide" Target="/ppt/notesSlides/notesSlide5.xml" Id="R5d402aa3e8ac4e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0c591e2e847af" /><Relationship Type="http://schemas.openxmlformats.org/officeDocument/2006/relationships/notesSlide" Target="/ppt/notesSlides/notesSlide6.xml" Id="Rf430ce83e56645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df931358415f" /><Relationship Type="http://schemas.openxmlformats.org/officeDocument/2006/relationships/notesSlide" Target="/ppt/notesSlides/notesSlide7.xml" Id="R8159dbc773124d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b7dfd4e904fb0" /><Relationship Type="http://schemas.openxmlformats.org/officeDocument/2006/relationships/notesSlide" Target="/ppt/notesSlides/notesSlide8.xml" Id="R1e2412b8ed0e4f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2345ad0a14c41" /><Relationship Type="http://schemas.openxmlformats.org/officeDocument/2006/relationships/notesSlide" Target="/ppt/notesSlides/notesSlide9.xml" Id="R57e84ab16372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27B60-DBFF-4400-AF56-66F36B0C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0320F-B69B-46A9-8F32-E4F019C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C9F3-D0BA-41D7-822E-DE4FCA6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D6793-620E-475D-B18A-3F36B36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87637-53C1-43C0-8EAC-0FC3E04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5D9D2-75FC-40F5-A5A4-A1AD7918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C9B4F-B179-4D12-A4F4-FABC1E7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C0F23-A0F8-4FEE-A42D-6B063109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Audion Voice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36DD3-B771-4223-B77B-CC9FBD86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048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933"/>
                </a:solidFill>
              </a:defRPr>
            </a:pPr>
            <a:r>
              <a:rPr sz="3300" b="1">
                <a:solidFill>
                  <a:srgbClr val="1F2933"/>
                </a:solidFill>
              </a:rPr>
              <a:t>Audion Voice AI turns speech into structured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35673-A5CF-47DF-B37F-06EC4C5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Live dictation, file transcription, local engines, cleanup, and Notion/Obsidian export sit in one controlled desktop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3E073-CCA0-4B7D-AA0F-95A7356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F63F5-35C0-4146-B032-E7EC346F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97316"/>
                </a:solidFill>
              </a:defRPr>
            </a:pPr>
            <a:r>
              <a:rPr sz="885" b="1">
                <a:solidFill>
                  <a:srgbClr val="F97316"/>
                </a:solidFill>
              </a:rPr>
              <a:t>Live +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CAC85-397A-4AAE-8EA6-42B531D3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EB55B-52FE-44F1-94D0-2DC350E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F2933"/>
                </a:solidFill>
              </a:defRPr>
            </a:pPr>
            <a:r>
              <a:rPr sz="885" b="1">
                <a:solidFill>
                  <a:srgbClr val="1F2933"/>
                </a:solidFill>
              </a:rPr>
              <a:t>API +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AD61A-7D08-46F1-806B-B569AA0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5EB77-BDDA-4B0A-9089-5FE6981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F2933"/>
                </a:solidFill>
              </a:defRPr>
            </a:pPr>
            <a:r>
              <a:rPr sz="885" b="1">
                <a:solidFill>
                  <a:srgbClr val="1F2933"/>
                </a:solidFill>
              </a:rPr>
              <a:t>Portable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34A98-7522-40E4-B7AF-EA80A7F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C997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60747-0757-4570-9470-6E05ED1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E026F-ABBF-49EE-AD6A-910B496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954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8294D-B060-44DB-B9BC-68B62767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6EC37-ECC8-4338-9B20-D13743E8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379FF-E666-433F-972B-18FA515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9F5A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6C26C-3A52-4B13-84AF-138E7EF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5A8E"/>
                </a:solidFill>
              </a:defRPr>
            </a:pPr>
            <a:r>
              <a:rPr sz="975" b="1">
                <a:solidFill>
                  <a:srgbClr val="9F5A8E"/>
                </a:solidFill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0C92C-D7D6-4642-931A-244E4404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820BC-3671-4287-AD39-6E30EBBE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551151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5742AF-068F-4549-96CA-A159E2A2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20067-8562-4570-A979-0394AC6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45C7B-42A2-4A66-ADC7-F237ACF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B01A0-9233-4922-B2B5-E2D51C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C645-A5BE-4AAE-9F09-703DD5A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C5A6F-497C-4859-9F76-39BD96E2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ACE5F-9485-401D-BA50-4D70C72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06E5C-04EC-412C-A81E-807908A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app solves the messy middle between raw audio and usable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2D16B-05C2-4261-9E4E-31570688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EA932-752D-43D4-A929-036F9615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The product is built around repeatable STT operations, not a one-off transcription button.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1B60A-9CA1-4BF8-8D60-5D88D9A1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BF876-54BC-4F4E-A6F9-C7F43CC3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E439E-31E7-4A4B-8B96-455909D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Long recordings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AB536-3CC6-4DEA-8681-6D3DEF5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Queues, FFmpeg ingest, source-side outputs, and retryable processing keep large jobs understandable.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26EB9-D060-45EE-B3C5-19C85D3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4C398-278A-4DD3-857E-5225FAC6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C111D-2586-4A6E-8B33-4ABE7F72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Live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C90A7-86A9-4748-9555-985A625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Push-to-talk, overlay partials, cleanup, and tray actions make dictation fast enough for daily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459E2-352D-404F-BB18-EC2DE75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425EC-B0CE-47BF-9B48-35BB94A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54AD1-5FF7-48DE-B260-AA4AB83E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Portable setup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56130-A7EF-4B07-BF69-B7ACE61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Runtime, tools, models, and wheel caches are installed in visible steps and can be rebuilt.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2C982-9FB9-4AE9-A43B-0BAC926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7BE9B-1F21-4244-AA44-9CB78E9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</a:defRPr>
            </a:pPr>
            <a:r>
              <a:rPr sz="1125" b="1">
                <a:solidFill>
                  <a:srgbClr val="1F2933"/>
                </a:solidFill>
              </a:rPr>
              <a:t>Central idea: the UI exposes the workflow while the installer keeps every backend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4524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EF650-4BED-41EF-A620-A9785A0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B999B-B835-4454-82B5-9FE740A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85A1F-C182-413E-BD70-8B6724D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4F39E-A7B6-4515-8B61-263A485C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CAA0C-4554-4412-BB9B-2F015B8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23EEB-B7E5-4710-9AC9-B702856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AB159-BE35-4463-83AE-5CC27CDD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935F8-6CC2-4276-B35E-6C07FBF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Two editions keep laptop work and CUDA work cleanly separated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23605-BAA6-4F89-BB4B-3F36CE76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F13BC-9593-411E-A384-ECA27C5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Live stays compact; Studio adds heavy local acceleration without burdening the everyday build.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D5066-5E3E-4C05-8D43-D610FBA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96E72-B775-4F03-A8A4-DC91325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48293-3A97-4A36-96DC-5EE185A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Voice AI 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7D7DD-457E-41A9-BE41-6669FD3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07383-85A4-41A7-9BFF-698D9CA9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FBDBB-1C78-4DB9-B996-48F90F3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DE308-27E9-4A54-8A62-B48C253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Voice AI 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C0140-0F50-4DDC-A448-93D9744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04C66-20B2-4672-946A-ACB2F0C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94A55-E704-42D7-B107-E9A2A0A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OpenAI, xAI, ElevenLabs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68F01-78F5-43CE-9409-4490540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F0769-8B4D-43F7-ACF5-79298BC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GigaAM and whisper.cpp local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A2F7B-3B76-4FB8-A31C-6235046A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CD5A6-0277-4A5D-B104-A7033C51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DirectML or CPU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A08B-1B1A-45D2-88F4-C1A70C5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8523F-C18F-4D58-B802-33B95EB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Small footprint for daily machines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75602-E3C2-4856-9E16-BDAE6EAA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CCB4C-532A-4A92-81BB-1693F1B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Everything in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E01E4-DC0A-465F-AD00-8A885F3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9B76C-11E2-44BB-B091-40B5E84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CUDA / TensorRT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2AA9B-AD71-4B4B-ADF1-AD3659F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211CFA-93B6-4BED-BB8A-F03E41E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faster-whisper large models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CAB81-3F0A-4946-9AF7-C5E31E11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4A94E-92A7-498D-BCB4-CAC9289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933"/>
                </a:solidFill>
              </a:defRPr>
            </a:pPr>
            <a:r>
              <a:rPr sz="1080" b="0">
                <a:solidFill>
                  <a:srgbClr val="1F2933"/>
                </a:solidFill>
              </a:rPr>
              <a:t>GPU diarization with pyannote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10DD2-FB44-4CA9-B8F6-BB1CC4A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91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16677-4DEE-42FC-99AB-67539F5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Working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E4CA77-DE26-4EE3-9DB5-4AF05DA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54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3"/>
                </a:solidFill>
              </a:defRPr>
            </a:pPr>
            <a:r>
              <a:rPr sz="1088" b="1">
                <a:solidFill>
                  <a:srgbClr val="1F2933"/>
                </a:solidFill>
              </a:rPr>
              <a:t>Live is the primary app; Studio is the workstation extension.</a:t>
            </a:r>
          </a:p>
        </p:txBody>
      </p:sp>
    </p:spTree>
    <p:extLst>
      <p:ext uri="{BB962C8B-B14F-4D97-AF65-F5344CB8AC3E}">
        <p14:creationId xmlns:p14="http://schemas.microsoft.com/office/powerpoint/2010/main" val="194473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5BDF7-1C96-48D2-9B9B-52DE23C4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116F4-A2B2-4B02-9C97-EBEEAA92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E636F-0F73-4AF4-99F0-AC4B405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69302-3015-40CD-94D0-14E950D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FC237-A8F2-4DD1-9A35-963017AF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1FBD-EA3B-48E7-8FC4-C95FA73E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DBE5-D994-4390-BFF6-924FABB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7D91D-A910-4CDC-8BCF-A0CABBD6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interface is organized around the jobs users actually repeat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AA54D-CAE7-4846-AF82-2C7CE28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7EE89-30AE-4E2C-8A58-4FEE1AA0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Tabs reduce scrolling and keep compute, setup, and export decisions visible without turning the screen into a control dump.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3969F-E7D9-4A60-84FF-9980A08C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B5832-F422-439C-B4EE-D7D2A29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2BE60-5045-449E-B216-39466F3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A65E0-8D63-4E1C-B771-D30A2DB0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Dictation, API/local source, overlay, cleanup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052E9-7733-499B-9426-828B512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C355-BD93-496D-B869-6F8807C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1ED09-877A-4201-A9D8-4C0653FC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29A0B-AB94-4E83-9A8F-4762179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49444-B038-4BED-B85B-EB905D03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File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AAF74-2E2C-404C-8932-B267099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Queue, engine, language, post-processing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1B6E2-CBC9-45E2-8A7C-98883FA5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0D2A6-5817-4910-BCF2-0520E93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E26B3-6C0B-44BD-9062-4822D4C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6A408-BFEF-4EF2-83D9-260F8898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0F869-90B2-4EEF-B4FE-ACC99378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E5BE5-37E1-4D5D-AD3F-81CCE49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Theme, formats, subtitles, tray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17E9A-546E-4CF2-80AE-5EDCCFD6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338CF-126C-4529-963C-A70432F8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3D3B8-2F09-4AB9-AA88-430B1A9D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438596-7FF1-4A7C-990A-FE6AB91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BFC98-DB3E-4FB4-AD3A-C0B9497E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Setup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2F6DBE-E19E-4479-BDA8-673F42E4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Modules, keys, progress, diagnostics</a:t>
            </a:r>
          </a:p>
        </p:txBody>
      </p:sp>
    </p:spTree>
    <p:extLst>
      <p:ext uri="{BB962C8B-B14F-4D97-AF65-F5344CB8AC3E}">
        <p14:creationId xmlns:p14="http://schemas.microsoft.com/office/powerpoint/2010/main" val="1408656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441AA-704B-49FC-8264-B357AD7A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924D5-1186-4ACC-8812-34D283AE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202FB-C1E6-44AA-BE6D-B165646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23BC3-507B-4DCD-9A40-33FB5A2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25E88-FE71-46E2-91E1-F0DD256A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2DD45-708E-43F7-8949-5D21079F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F8FE6-5426-4968-B327-DA3E442E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98EF7-6834-4BAE-8B09-606ADC74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Model choices are grouped by intent, not by raw provider catalogs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D4ED7-F82C-4A1E-8847-46122487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3AF32-0D63-4324-80D5-4EBEE6D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Users first choose the job: API models for cloud speed, Local Models for privacy and long work, CUDA for Studio throughput.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C9DE1-9EE9-40E0-B39E-FCA1A303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0FADB-C35E-47B7-8B69-800D254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API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41605-01A3-4317-A72C-E9FEEC3B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OpenAI profiles, xAI Realtime, ElevenLabs 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B3EF9-A2D9-45AA-A85E-8A4B776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Fixed Live choices reduce user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29FB8-75A9-4139-9561-182E9A4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830B0-0C57-4024-94B5-C5F19D6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Local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89CE8-46D7-46C1-BEAC-55C3B91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GigaAM ONNX and whisper.cpp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14E55-4D54-4771-B48D-6E3A0380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DirectML is the lightweight Windows default.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DA6E3-DE87-402A-8A95-843D3B9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7D41-9E41-42F9-8AB9-20DB5008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F5A8E"/>
                </a:solidFill>
              </a:defRPr>
            </a:pPr>
            <a:r>
              <a:rPr sz="1500" b="1">
                <a:solidFill>
                  <a:srgbClr val="9F5A8E"/>
                </a:solidFill>
              </a:rPr>
              <a:t>CUDA / TensorRT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1E2F3-0CB0-4065-BDE7-4DDAB621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Studio-only faster-whisper and pyannote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2C08B-FDD6-42B2-9BA0-AB136BF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667085"/>
                </a:solidFill>
              </a:defRPr>
            </a:pPr>
            <a:r>
              <a:rPr sz="1005" b="0">
                <a:solidFill>
                  <a:srgbClr val="667085"/>
                </a:solidFill>
              </a:rPr>
              <a:t>Built for RTX-class workstations.</a:t>
            </a:r>
          </a:p>
        </p:txBody>
      </p:sp>
    </p:spTree>
    <p:extLst>
      <p:ext uri="{BB962C8B-B14F-4D97-AF65-F5344CB8AC3E}">
        <p14:creationId xmlns:p14="http://schemas.microsoft.com/office/powerpoint/2010/main" val="1499570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F77E6-B0F6-4587-BD8B-80A0E35C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0E063-FC35-4225-A245-5E2EE79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155BC-E935-490A-9519-13EE22DF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60076-A7F1-4820-AC71-81BD5741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2CA44-278B-4969-BC87-53702DC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239EF-63F3-4FC2-9257-B9B9CEAB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B3428-8CC8-4250-969B-763F561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E1D54-9FDF-4212-99BB-6B9495DB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Setup is split into stable layers so failures are easy to find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1708F-DCD8-4886-AA43-61DC803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2AF02-775F-429B-89DC-D5FCD8E8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The builder and GUI use the same install scripts; regular users work from the Setup tab once the app launches.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EDE37-6B84-4E2F-8B19-0926D03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88C89-B95E-458A-AEF9-D316C729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EEF92-9251-48CE-AF02-90CE24B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5312D-967D-483C-A4BF-545165E9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946BA-E372-4BAB-A60E-CF5C5228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EE37C-6575-4B76-A2D3-66C112D4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</a:defRPr>
            </a:pPr>
            <a:r>
              <a:rPr sz="863" b="1">
                <a:solidFill>
                  <a:srgbClr val="1F2933"/>
                </a:solidFill>
              </a:rPr>
              <a:t>Portable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7B11F-087C-49AA-93FA-977C570A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44DE5-777F-45AC-8978-4AF2C5D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424EE-EE64-4AC3-B650-8BB7A67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FFmpeg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46396-0E08-4FFB-B730-9DDD074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A022A-7616-44C5-9134-CD95EA73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116A9-C349-4B99-A3C9-5AD79B4A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Live deps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ECF07-5775-4F38-A7E9-61CEBE4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70FC9-1E60-447D-91C2-CA963531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9171E-0C10-4773-9CA2-FA566FBC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Wheel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F84D4-ED05-430F-81B2-5DBEC9A6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824F2-A7E7-4C6A-AA89-378ED5C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65AF3-B5D0-4E26-A46D-93251F0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GigaAM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8B234-0198-4628-8F51-9C84F641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B7F3F-B843-4ADE-A25E-74E0217A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15E91-1E68-452D-8A19-44CC56A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whisper.cpp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1FC44-E0DB-457C-A1A7-85CDEF8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B9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9C825-93DE-4D93-B398-3556F60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7358"/>
                </a:solidFill>
              </a:defRPr>
            </a:pPr>
            <a:r>
              <a:rPr sz="900" b="1">
                <a:solidFill>
                  <a:srgbClr val="8B7358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C98B1-3831-469F-AF59-1A3E0BC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</a:defRPr>
            </a:pPr>
            <a:r>
              <a:rPr sz="938" b="1">
                <a:solidFill>
                  <a:srgbClr val="1F2933"/>
                </a:solidFill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FBCB1-778E-4494-A4BD-223EDD17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941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B9DBBD-8C9D-4232-8E0E-B22DA753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1F2933"/>
                </a:solidFill>
              </a:defRPr>
            </a:pPr>
            <a:r>
              <a:rPr sz="1140" b="1">
                <a:solidFill>
                  <a:srgbClr val="1F2933"/>
                </a:solidFill>
              </a:rPr>
              <a:t>Cleanup removes reproducible payloads, while configs, scripts, system_core, tests, and docs stay protected.</a:t>
            </a:r>
          </a:p>
        </p:txBody>
      </p:sp>
    </p:spTree>
    <p:extLst>
      <p:ext uri="{BB962C8B-B14F-4D97-AF65-F5344CB8AC3E}">
        <p14:creationId xmlns:p14="http://schemas.microsoft.com/office/powerpoint/2010/main" val="866066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47377-A9A6-426B-B7AD-11B612B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EA3E3-F57D-45C5-A6CB-1B6D9D99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1147F-10C6-4248-9BF9-FC499DBE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DD12E-01DD-4FB2-8CAB-BDEECB11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62DFC-34F9-4173-8F18-32C5B7B0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1446C-FCEA-41BE-9A4F-5B0E489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9ED12-87F2-4F86-B542-8FA2F83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EC9A7-2348-4461-8757-0A6AA459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Live dictation starts capture before the network path is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E0F92-1602-49FE-B6BC-2524C43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39190-3FE9-4411-AB06-4756D49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The microphone opens first, so fast speakers do not lose the beginning of a phrase while Realtime or local models warm 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E7236-271A-4A9B-98A0-C71D0C7C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E8A0B-30E4-4200-9DCE-E236D070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92766-793D-46F5-8F49-C79B6A5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Hotkey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D7333-8067-49C7-8139-0B07FDFF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Alt+Win or continuous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F53E1-1D38-4F22-A92E-2329987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B6263-33CF-46CA-A6EF-15019E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C8B07-2494-4124-80B0-D503EAB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1FB4C-A5B9-4FFA-B958-37175C89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ECCBA-CC08-42B7-9CAD-D1E219A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Mic 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2749E-B25A-444A-A40B-4FFB97E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PCM16 input, no file saved by diagnostics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C523F-E1E0-4209-9B4F-DC7CC6B8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D3197-9832-4EF7-B11B-8A7B2A7E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F4B29-E9E9-44C5-91F6-DADBDC9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5C53F-DD0C-4D56-BF37-719B2263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28357-234B-4274-8216-41A7A17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STT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3193E-0EE6-4A6F-88C5-AE12573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OpenAI, xAI, ElevenLabs, GigaAM, whisper.cpp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4B311-FB8B-4828-B18A-BD461C4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CAEF1-C232-49FB-B82C-D0219DF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975D"/>
          </a:solidFill>
          <a:ln xmlns:a="http://schemas.openxmlformats.org/drawingml/2006/main" w="0">
            <a:solidFill>
              <a:srgbClr val="C997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534E4-CEE0-4085-AC30-D2813F6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1FF7D-A407-46F6-8426-D59DBF0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15C2B-D48B-4216-9F84-9482E3F9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D4EA2-91CD-4ED5-BBCC-40CB696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Overlay, paste, log, export</a:t>
            </a:r>
          </a:p>
        </p:txBody>
      </p:sp>
    </p:spTree>
    <p:extLst>
      <p:ext uri="{BB962C8B-B14F-4D97-AF65-F5344CB8AC3E}">
        <p14:creationId xmlns:p14="http://schemas.microsoft.com/office/powerpoint/2010/main" val="1158976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B8F3D-B531-491E-8C1C-95E01E91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21D72-EE7A-4192-9A95-49E32A3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AC86B-B753-4517-B898-4FB736FC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8456C-47DC-4F5F-9F38-E846B763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20174-AF20-4B64-BE61-857D458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6F7B9-43F3-416F-B1BB-4B8FE58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7A9E-2B10-4DA7-9208-9457C2A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52408-0A58-4CB5-9D7A-BA37A107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Local models give privacy without making every laptop a CUDA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50D8D-D5FA-4B0E-87D7-8CFACA4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B2000-9FC5-4591-AEDD-24A5048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The local path is useful because it is explicit, diagnosable, and allowed to fall back gracefully.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0DB0-D7FF-4D84-8673-551B3F8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6FCCA-88BC-45FA-B809-360CF5F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BE24F-F7B3-45C3-ABF5-CB75219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GigaAM default for 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19075-1C61-4AD6-BF00-887FC2A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A small ONNX model can stay warm in Live without consuming workstation-class memory.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7DD58-8C8F-4990-90C1-3FFD420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1B1B8-78B7-472B-B15A-C6CD26F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6FA08-E060-4AE4-BD73-6B173F8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whisper.cpp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C4D58-5835-4A7B-93AC-38E7DBE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Vulkan is used when present; official CPU fallback keeps the path available.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72E07-7A3E-4753-A58D-3E369B7C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0478">
            <a:solidFill>
              <a:srgbClr val="9F5A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E0BB9-30C0-4B13-A620-9AF3782B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5A8E"/>
          </a:solidFill>
          <a:ln xmlns:a="http://schemas.openxmlformats.org/drawingml/2006/main" w="0">
            <a:solidFill>
              <a:srgbClr val="9F5A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AAB01-9F8F-4C77-B49F-60E7AEA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Mic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1A9DB-741F-41F3-A2BA-3A89B4C3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67085"/>
                </a:solidFill>
              </a:defRPr>
            </a:pPr>
            <a:r>
              <a:rPr sz="1065" b="0">
                <a:solidFill>
                  <a:srgbClr val="667085"/>
                </a:solidFill>
              </a:rPr>
              <a:t>Setup can now open the input stream, count PCM bytes, and report clear Windows audio hints.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717F0-7BDC-4655-B702-3A86CD2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E00E5-A455-4924-8A0E-364CA0B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</a:defRPr>
            </a:pPr>
            <a:r>
              <a:rPr sz="1125" b="1">
                <a:solidFill>
                  <a:srgbClr val="1F2933"/>
                </a:solidFill>
              </a:rPr>
              <a:t>The user sees readiness, not mystery: missing dependencies, devices, and stream errors are visible.</a:t>
            </a:r>
          </a:p>
        </p:txBody>
      </p:sp>
    </p:spTree>
    <p:extLst>
      <p:ext uri="{BB962C8B-B14F-4D97-AF65-F5344CB8AC3E}">
        <p14:creationId xmlns:p14="http://schemas.microsoft.com/office/powerpoint/2010/main" val="633324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F1E6EE-AC4A-4A01-B43F-FFDEC4DA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3"/>
          </a:solidFill>
          <a:ln xmlns:a="http://schemas.openxmlformats.org/drawingml/2006/main" w="0">
            <a:solidFill>
              <a:srgbClr val="F7EFE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6E08-BEDF-46C4-A794-548C610E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2"/>
          </a:solidFill>
          <a:ln xmlns:a="http://schemas.openxmlformats.org/drawingml/2006/main" w="0">
            <a:solidFill>
              <a:srgbClr val="F1E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C0DCE-296D-42B1-8BD3-BECA063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D"/>
          </a:solidFill>
          <a:ln xmlns:a="http://schemas.openxmlformats.org/drawingml/2006/main" w="0">
            <a:solidFill>
              <a:srgbClr val="D8B9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573B2-C6D1-468A-87B8-2F711A0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2DD29-8DA4-4E74-B254-5F3D3445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0C81B-C308-4DA0-B3CE-9D8B4103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2785A"/>
                </a:solidFill>
              </a:defRPr>
            </a:pPr>
            <a:r>
              <a:rPr sz="750" b="0">
                <a:solidFill>
                  <a:srgbClr val="92785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02B8C-02A6-447D-912F-08A7247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2785A"/>
                </a:solidFill>
              </a:defRPr>
            </a:pPr>
            <a:r>
              <a:rPr sz="713" b="0">
                <a:solidFill>
                  <a:srgbClr val="92785A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3BA4B-CE3C-4880-A89B-B39FD7A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remaining risk is backend validation, not the product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8191E-B61D-4929-876A-223BB30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8FC35-C507-4B3D-8A8D-85966F9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085"/>
                </a:solidFill>
              </a:defRPr>
            </a:pPr>
            <a:r>
              <a:rPr sz="1163" b="0">
                <a:solidFill>
                  <a:srgbClr val="667085"/>
                </a:solidFill>
              </a:rPr>
              <a:t>The UI, installer workflow, docs, and Live rebuild path are now in a coherent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05E02-F74D-47FC-8AB8-D27B034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3B71-7643-4AA4-A940-DCACE08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136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DB72E-5A0B-46D8-A7E4-28967BCC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Live tests passed after real cleanup and rebuild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0CA48-F943-4BBD-B201-CDA8DC4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FE04F-E15F-4D94-BC95-E29397D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30DD3-3BE5-4B62-90E1-DD1455E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User-facing tabs: Live, File operations, Settings,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4CA33-95AD-4319-A9AC-8C54B6F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156B9-DCF5-4361-9331-178BAF89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6FAD7-E2CD-4816-9FEB-BB2D01D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085"/>
                </a:solidFill>
              </a:defRPr>
            </a:pPr>
            <a:r>
              <a:rPr sz="953" b="0">
                <a:solidFill>
                  <a:srgbClr val="667085"/>
                </a:solidFill>
              </a:rPr>
              <a:t>Themes: Mess Blue and Graphite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9C69F-8B3B-4C87-BDFC-FF8B560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677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CD8"/>
          </a:solidFill>
          <a:ln xmlns:a="http://schemas.openxmlformats.org/drawingml/2006/main" w="9525">
            <a:solidFill>
              <a:srgbClr val="C997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BFDBB-5D0A-4997-BB72-AC5754A1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C5BFA-01D3-4F49-95F1-106E443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Run Studio CUDA smoke tests on the RTX workstation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D30B7-C7D2-4848-B2A1-E922CCA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7D095-3277-4716-9D51-5386874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244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Verify TensorRT/CUDA model throughput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B6A7D-3BA5-455E-ACE6-1E31CCE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C07DC-FCFD-4287-82E8-234B4AE5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911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3"/>
                </a:solidFill>
              </a:defRPr>
            </a:pPr>
            <a:r>
              <a:rPr sz="1095" b="0">
                <a:solidFill>
                  <a:srgbClr val="1F2933"/>
                </a:solidFill>
              </a:rPr>
              <a:t>Polish any device-specific audio edge cases after live use</a:t>
            </a:r>
          </a:p>
        </p:txBody>
      </p:sp>
    </p:spTree>
    <p:extLst>
      <p:ext uri="{BB962C8B-B14F-4D97-AF65-F5344CB8AC3E}">
        <p14:creationId xmlns:p14="http://schemas.microsoft.com/office/powerpoint/2010/main" val="170771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2026-07-02T08:42:12.5440000Z</dcterms:created>
  <dcterms:modified xsi:type="dcterms:W3CDTF">2026-07-02T08:42:12.5440000Z</dcterms:modified>
</coreProperties>
</file>